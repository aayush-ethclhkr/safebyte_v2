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4827171c4b84ef1" /><Relationship Type="http://schemas.openxmlformats.org/officeDocument/2006/relationships/extended-properties" Target="/docProps/app.xml" Id="Ra69e8be1489b4186" /><Relationship Type="http://schemas.openxmlformats.org/officeDocument/2006/relationships/officeDocument" Target="/ppt/presentation.xml" Id="R84ab4868f52b46a2" /></Relationships>
</file>

<file path=ppt/presentation.xml><?xml version="1.0" encoding="utf-8"?>
<p:presentation xmlns:p="http://schemas.openxmlformats.org/presentationml/2006/main">
  <p:sldMasterIdLst>
    <p:sldMasterId xmlns:r="http://schemas.openxmlformats.org/officeDocument/2006/relationships" id="2147483648" r:id="R4f7846fecd05476b"/>
  </p:sldMasterIdLst>
  <p:notesMasterIdLst>
    <p:notesMasterId xmlns:r="http://schemas.openxmlformats.org/officeDocument/2006/relationships" r:id="R81d94ad7453541ec"/>
  </p:notesMasterIdLst>
  <p:sldIdLst>
    <p:sldId xmlns:r="http://schemas.openxmlformats.org/officeDocument/2006/relationships" id="256" r:id="R4a3c4b5e9e7c460e"/>
    <p:sldId xmlns:r="http://schemas.openxmlformats.org/officeDocument/2006/relationships" id="257" r:id="R36b28e41b67b465e"/>
    <p:sldId xmlns:r="http://schemas.openxmlformats.org/officeDocument/2006/relationships" id="258" r:id="Rf6f7979ea9d4494e"/>
    <p:sldId xmlns:r="http://schemas.openxmlformats.org/officeDocument/2006/relationships" id="259" r:id="Rd024c315308744cd"/>
    <p:sldId xmlns:r="http://schemas.openxmlformats.org/officeDocument/2006/relationships" id="260" r:id="R79bf30f59d4d4a6e"/>
    <p:sldId xmlns:r="http://schemas.openxmlformats.org/officeDocument/2006/relationships" id="261" r:id="Ra63cdd35822a446b"/>
    <p:sldId xmlns:r="http://schemas.openxmlformats.org/officeDocument/2006/relationships" id="262" r:id="Ra312c2c980dd42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14fd3b582d04bd3" /><Relationship Type="http://schemas.openxmlformats.org/officeDocument/2006/relationships/slideMaster" Target="/ppt/slideMasters/slideMaster1.xml" Id="R4f7846fecd05476b" /><Relationship Type="http://schemas.openxmlformats.org/officeDocument/2006/relationships/notesMaster" Target="/ppt/notesMasters/notesMaster1.xml" Id="R81d94ad7453541ec" /><Relationship Type="http://schemas.openxmlformats.org/officeDocument/2006/relationships/presProps" Target="/ppt/presProps.xml" Id="R8d672db4bc024074" /><Relationship Type="http://schemas.openxmlformats.org/officeDocument/2006/relationships/viewProps" Target="/ppt/viewProps.xml" Id="R9f19af64a2744866" /><Relationship Type="http://schemas.openxmlformats.org/officeDocument/2006/relationships/tableStyles" Target="/ppt/tableStyles.xml" Id="Rbc0ff7c77b4d434c" /><Relationship Type="http://schemas.openxmlformats.org/officeDocument/2006/relationships/slide" Target="/ppt/slides/slide1.xml" Id="R4a3c4b5e9e7c460e" /><Relationship Type="http://schemas.openxmlformats.org/officeDocument/2006/relationships/slide" Target="/ppt/slides/slide2.xml" Id="R36b28e41b67b465e" /><Relationship Type="http://schemas.openxmlformats.org/officeDocument/2006/relationships/slide" Target="/ppt/slides/slide3.xml" Id="Rf6f7979ea9d4494e" /><Relationship Type="http://schemas.openxmlformats.org/officeDocument/2006/relationships/slide" Target="/ppt/slides/slide4.xml" Id="Rd024c315308744cd" /><Relationship Type="http://schemas.openxmlformats.org/officeDocument/2006/relationships/slide" Target="/ppt/slides/slide5.xml" Id="R79bf30f59d4d4a6e" /><Relationship Type="http://schemas.openxmlformats.org/officeDocument/2006/relationships/slide" Target="/ppt/slides/slide6.xml" Id="Ra63cdd35822a446b" /><Relationship Type="http://schemas.openxmlformats.org/officeDocument/2006/relationships/slide" Target="/ppt/slides/slide7.xml" Id="Ra312c2c980dd42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81e45d3ab4840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fe3ab5ef454d55" /><Relationship Type="http://schemas.openxmlformats.org/officeDocument/2006/relationships/notesMaster" Target="/ppt/notesMasters/notesMaster1.xml" Id="R482bc73dfe3249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58835eea284f0c" /><Relationship Type="http://schemas.openxmlformats.org/officeDocument/2006/relationships/notesMaster" Target="/ppt/notesMasters/notesMaster1.xml" Id="Rfe29b4bd1e9f4b8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1077a31b0f4340" /><Relationship Type="http://schemas.openxmlformats.org/officeDocument/2006/relationships/notesMaster" Target="/ppt/notesMasters/notesMaster1.xml" Id="R9af1fddbdfd242f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f17e0ae1d524dfa" /><Relationship Type="http://schemas.openxmlformats.org/officeDocument/2006/relationships/notesMaster" Target="/ppt/notesMasters/notesMaster1.xml" Id="R62a310ff10a249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1c4bfcbb844def" /><Relationship Type="http://schemas.openxmlformats.org/officeDocument/2006/relationships/notesMaster" Target="/ppt/notesMasters/notesMaster1.xml" Id="Re348b4eb77844065" /></Relationships>
</file>

<file path=ppt/notesSlides/_rels/notesSlide6.xml.rels>&#65279;<?xml version="1.0" encoding="utf-8"?><Relationships xmlns="http://schemas.openxmlformats.org/package/2006/relationships"><Relationship Type="http://schemas.openxmlformats.org/officeDocument/2006/relationships/slide" Target="/ppt/slides/slide6.xml" Id="R36effa10154542af" /><Relationship Type="http://schemas.openxmlformats.org/officeDocument/2006/relationships/notesMaster" Target="/ppt/notesMasters/notesMaster1.xml" Id="R72093ffeb9fe493b" /></Relationships>
</file>

<file path=ppt/notesSlides/_rels/notesSlide7.xml.rels>&#65279;<?xml version="1.0" encoding="utf-8"?><Relationships xmlns="http://schemas.openxmlformats.org/package/2006/relationships"><Relationship Type="http://schemas.openxmlformats.org/officeDocument/2006/relationships/slide" Target="/ppt/slides/slide7.xml" Id="R9ceccf6a06174729" /><Relationship Type="http://schemas.openxmlformats.org/officeDocument/2006/relationships/notesMaster" Target="/ppt/notesMasters/notesMaster1.xml" Id="Rdab0eb29c53244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SIH 2026 problem statement dataset, SIH26182 and SIH26183. https://raw.githubusercontent.com/Rajkumar-Porandla/SIH-2026-Problem-Statements/main/sih2026_problem_statements.json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Prototype sources: https://docs.etherscan.io/ ; https://www.blockchain.com/explorer/api/blockchain_api ; https://developers.tron.network/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References: SIH26182 source dataset; Etherscan v2 API; Blockchain.com Explorer API; TronGrid API; OFAC Sanctions List Search.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aeff23adfc4db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2eeee8bb9e7482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5c81ed88d314df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c59d57df46f4f2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f3e86172a274a2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01c734ec6e6455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a820792427040a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68fa12e61804f6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cea45ca9f2b493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1128b83004d49a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817c51520b447b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FF17AEA-DCBA-4CE2-BCCD-06CEF413E6E1}"/>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B8FDD2DA-A0A2-413D-A199-A57B65A29E73}"/>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501FF2E0-E6D4-4408-978D-CF6DC7D79B3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8/25/2026</a:t>
            </a:fld>
            <a:endParaRPr/>
          </a:p>
        </p:txBody>
      </p:sp>
      <p:sp>
        <p:nvSpPr>
          <p:cNvPr id="5" name="Footer Placeholder 4">
            <a:extLst xmlns:a="http://schemas.openxmlformats.org/drawingml/2006/main">
              <a:ext uri="{FF2B5EF4-FFF2-40B4-BE49-F238E27FC236}">
                <a16:creationId xmlns:a16="http://schemas.microsoft.com/office/drawing/2014/main" id="{920F1E2C-F3E8-4F5F-9E03-EEB7A1ABD86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A1FA33CD-72FA-4382-8F33-67FB9557011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FC8CCBC-42FA-454C-B5CE-39047E1456F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EF1B8FA-61BE-402C-ABC0-E0F9C9999F6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582180E-6867-4803-8027-7BDA8DC2CF0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8/25/2026</a:t>
            </a:fld>
            <a:endParaRPr/>
          </a:p>
        </p:txBody>
      </p:sp>
      <p:sp>
        <p:nvSpPr>
          <p:cNvPr id="5" name="Footer Placeholder 4">
            <a:extLst xmlns:a="http://schemas.openxmlformats.org/drawingml/2006/main">
              <a:ext uri="{FF2B5EF4-FFF2-40B4-BE49-F238E27FC236}">
                <a16:creationId xmlns:a16="http://schemas.microsoft.com/office/drawing/2014/main" id="{02BC3F83-F08E-4F37-82F2-30C09510C95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35BC433D-AC88-422C-8EB7-33C39F2B19E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AFD0A5B-88C2-43F6-A101-860B7C72E73E}"/>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1EB21D4A-6A63-4CA9-827C-B5E7B11FD6DA}"/>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F47AE880-FFF1-44CB-A89F-E407AA3F88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8/25/2026</a:t>
            </a:fld>
            <a:endParaRPr/>
          </a:p>
        </p:txBody>
      </p:sp>
      <p:sp>
        <p:nvSpPr>
          <p:cNvPr id="5" name="Footer Placeholder 4">
            <a:extLst xmlns:a="http://schemas.openxmlformats.org/drawingml/2006/main">
              <a:ext uri="{FF2B5EF4-FFF2-40B4-BE49-F238E27FC236}">
                <a16:creationId xmlns:a16="http://schemas.microsoft.com/office/drawing/2014/main" id="{C527B203-57E7-4978-8863-8CA0C23B8DA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F2A3998D-5B0C-45DD-AD1E-E9D3F6B74FF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56C39C5-898B-4989-AB3D-EE02EC179BD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329010E-0426-4263-8173-8F20A4F3358B}"/>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2F19D4F0-F951-4B85-B46C-BF917143048A}"/>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3FFF1FF2-00A0-4F5C-B4BF-DE3C1EAB061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8/25/2026</a:t>
            </a:fld>
            <a:endParaRPr/>
          </a:p>
        </p:txBody>
      </p:sp>
      <p:sp>
        <p:nvSpPr>
          <p:cNvPr id="6" name="Footer Placeholder 4">
            <a:extLst xmlns:a="http://schemas.openxmlformats.org/drawingml/2006/main">
              <a:ext uri="{FF2B5EF4-FFF2-40B4-BE49-F238E27FC236}">
                <a16:creationId xmlns:a16="http://schemas.microsoft.com/office/drawing/2014/main" id="{52FF2A8F-E2B5-410E-BFF1-D8C9E2F06DD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D2F7D8CC-3045-4250-8E41-1B36813FC4A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E9ECB7D-2F10-4F4A-BA3A-9F36734D8F0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BAAB3E96-BB9B-4599-9B46-1A21D81FE6AA}"/>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A9CE6B2-E63B-4CA3-AF57-5906303836E1}"/>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291292D2-51FA-4863-9817-FD8A80DB4A7A}"/>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0FE981AF-8B46-4FF8-8744-490EAE5A828B}"/>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D97D8D73-8F09-4001-9059-0F56DE0B2E3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8/25/2026</a:t>
            </a:fld>
            <a:endParaRPr/>
          </a:p>
        </p:txBody>
      </p:sp>
      <p:sp>
        <p:nvSpPr>
          <p:cNvPr id="8" name="Footer Placeholder 4">
            <a:extLst xmlns:a="http://schemas.openxmlformats.org/drawingml/2006/main">
              <a:ext uri="{FF2B5EF4-FFF2-40B4-BE49-F238E27FC236}">
                <a16:creationId xmlns:a16="http://schemas.microsoft.com/office/drawing/2014/main" id="{741AA370-9E5A-413D-A5FB-1BB91EBF20B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E52AE4BD-0683-42A6-B497-D39261D12A2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ED7185-A0DF-40E1-AED5-D66F65FEFAA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318DF1BF-6040-4022-AE36-774296C7CC9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8/25/2026</a:t>
            </a:fld>
            <a:endParaRPr/>
          </a:p>
        </p:txBody>
      </p:sp>
      <p:sp>
        <p:nvSpPr>
          <p:cNvPr id="4" name="Footer Placeholder 4">
            <a:extLst xmlns:a="http://schemas.openxmlformats.org/drawingml/2006/main">
              <a:ext uri="{FF2B5EF4-FFF2-40B4-BE49-F238E27FC236}">
                <a16:creationId xmlns:a16="http://schemas.microsoft.com/office/drawing/2014/main" id="{E01A5712-D4E1-45F9-81B9-4BA7D1AF45F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59C93DFA-797C-49AF-90A2-9E8421DB295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0ADF08A3-5BE4-4237-A254-D61755F6D9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8/25/2026</a:t>
            </a:fld>
            <a:endParaRPr/>
          </a:p>
        </p:txBody>
      </p:sp>
      <p:sp>
        <p:nvSpPr>
          <p:cNvPr id="3" name="Footer Placeholder 4">
            <a:extLst xmlns:a="http://schemas.openxmlformats.org/drawingml/2006/main">
              <a:ext uri="{FF2B5EF4-FFF2-40B4-BE49-F238E27FC236}">
                <a16:creationId xmlns:a16="http://schemas.microsoft.com/office/drawing/2014/main" id="{07EAB18C-78E6-473F-815C-80534D1E3A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4B9B7065-5841-4FD9-898C-4A09EF774DA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A24E05F-8152-441C-B904-8FE83DD1690F}"/>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6AC2DC5-BEAE-40EA-B74F-1D4321EEF25A}"/>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18002708-8D03-42FC-9EB9-F79DBD2D03B7}"/>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8D3B0B7A-53A6-4FE3-AA08-19AB3A14253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8/25/2026</a:t>
            </a:fld>
            <a:endParaRPr/>
          </a:p>
        </p:txBody>
      </p:sp>
      <p:sp>
        <p:nvSpPr>
          <p:cNvPr id="6" name="Footer Placeholder 4">
            <a:extLst xmlns:a="http://schemas.openxmlformats.org/drawingml/2006/main">
              <a:ext uri="{FF2B5EF4-FFF2-40B4-BE49-F238E27FC236}">
                <a16:creationId xmlns:a16="http://schemas.microsoft.com/office/drawing/2014/main" id="{C00CB3C3-F459-4F36-BA21-F6A73BE1A85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EC09EC44-645F-4EB8-A3BC-29DE9A22D4D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52A3782-E9AC-4069-A77B-1D3163813A60}"/>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3CFDA20B-3DB6-4A21-AD10-72BC9AFC12E7}"/>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D09D0CEB-E182-49FC-B1A9-256D7064F038}"/>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E164182D-1222-4CE4-AE2C-8ED342A93A6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8/25/2026</a:t>
            </a:fld>
            <a:endParaRPr/>
          </a:p>
        </p:txBody>
      </p:sp>
      <p:sp>
        <p:nvSpPr>
          <p:cNvPr id="6" name="Footer Placeholder 4">
            <a:extLst xmlns:a="http://schemas.openxmlformats.org/drawingml/2006/main">
              <a:ext uri="{FF2B5EF4-FFF2-40B4-BE49-F238E27FC236}">
                <a16:creationId xmlns:a16="http://schemas.microsoft.com/office/drawing/2014/main" id="{8BEFE7D3-5F5A-4267-A67D-345302FFE16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CD258BBD-D48B-4E57-AFA7-4F64593F109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51D0463-ED67-4922-AE1E-919D08B57E9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3FECA1DC-FE72-4ECA-A14C-147721957F98}"/>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EDD7A53-BA0F-4E40-9B0C-390B14D7FC0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8/25/2026</a:t>
            </a:fld>
            <a:endParaRPr/>
          </a:p>
        </p:txBody>
      </p:sp>
      <p:sp>
        <p:nvSpPr>
          <p:cNvPr id="5" name="Footer Placeholder 4">
            <a:extLst xmlns:a="http://schemas.openxmlformats.org/drawingml/2006/main">
              <a:ext uri="{FF2B5EF4-FFF2-40B4-BE49-F238E27FC236}">
                <a16:creationId xmlns:a16="http://schemas.microsoft.com/office/drawing/2014/main" id="{6ACC7E63-EDF2-411B-BBF8-F273F012982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5217A6DA-A1EA-4A1D-811D-A617AF56E6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BEC2F109-1D5B-47AF-A9CE-9CD74613699B}"/>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E4E6FFAE-A698-48E1-A77E-C29EF3224492}"/>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B0B8A22-32E1-478C-A4EE-443CC2BB0D9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8/25/2026</a:t>
            </a:fld>
            <a:endParaRPr/>
          </a:p>
        </p:txBody>
      </p:sp>
      <p:sp>
        <p:nvSpPr>
          <p:cNvPr id="5" name="Footer Placeholder 4">
            <a:extLst xmlns:a="http://schemas.openxmlformats.org/drawingml/2006/main">
              <a:ext uri="{FF2B5EF4-FFF2-40B4-BE49-F238E27FC236}">
                <a16:creationId xmlns:a16="http://schemas.microsoft.com/office/drawing/2014/main" id="{5A98F5D3-E402-41D9-9616-0B2E5A5770B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2A32A497-18A4-45E1-BAAC-45269EB2225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352bd54c004c37" /><Relationship Type="http://schemas.openxmlformats.org/officeDocument/2006/relationships/slideLayout" Target="/ppt/slideLayouts/slideLayout1.xml" Id="R0a90555bc4424ee1" /><Relationship Type="http://schemas.openxmlformats.org/officeDocument/2006/relationships/slideLayout" Target="/ppt/slideLayouts/slideLayout2.xml" Id="R9878180fea2b4a74" /><Relationship Type="http://schemas.openxmlformats.org/officeDocument/2006/relationships/slideLayout" Target="/ppt/slideLayouts/slideLayout3.xml" Id="R5e7796c9a76e414b" /><Relationship Type="http://schemas.openxmlformats.org/officeDocument/2006/relationships/slideLayout" Target="/ppt/slideLayouts/slideLayout4.xml" Id="R7314238b1fce41f2" /><Relationship Type="http://schemas.openxmlformats.org/officeDocument/2006/relationships/slideLayout" Target="/ppt/slideLayouts/slideLayout5.xml" Id="R00503c2a7aed4d7d" /><Relationship Type="http://schemas.openxmlformats.org/officeDocument/2006/relationships/slideLayout" Target="/ppt/slideLayouts/slideLayout6.xml" Id="R9aefe935e21744d3" /><Relationship Type="http://schemas.openxmlformats.org/officeDocument/2006/relationships/slideLayout" Target="/ppt/slideLayouts/slideLayout7.xml" Id="R1fda42d50ba94928" /><Relationship Type="http://schemas.openxmlformats.org/officeDocument/2006/relationships/slideLayout" Target="/ppt/slideLayouts/slideLayout8.xml" Id="Rd37ad2e616104e49" /><Relationship Type="http://schemas.openxmlformats.org/officeDocument/2006/relationships/slideLayout" Target="/ppt/slideLayouts/slideLayout9.xml" Id="Rfa2149bff3104b81" /><Relationship Type="http://schemas.openxmlformats.org/officeDocument/2006/relationships/slideLayout" Target="/ppt/slideLayouts/slideLayout10.xml" Id="R89706259825143a5" /><Relationship Type="http://schemas.openxmlformats.org/officeDocument/2006/relationships/slideLayout" Target="/ppt/slideLayouts/slideLayout11.xml" Id="Rd1cc6566a0564be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87CAF2D6-288B-4B4E-9974-0CB7F9511554}"/>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2D4EC581-C861-4510-B1D2-04327EC62F11}"/>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B79A843-1790-475D-8EF6-285FBCB5FE44}"/>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8/25/2026</a:t>
            </a:fld>
            <a:endParaRPr/>
          </a:p>
        </p:txBody>
      </p:sp>
      <p:sp>
        <p:nvSpPr>
          <p:cNvPr id="5" name="Footer Placeholder 4">
            <a:extLst xmlns:a="http://schemas.openxmlformats.org/drawingml/2006/main">
              <a:ext uri="{FF2B5EF4-FFF2-40B4-BE49-F238E27FC236}">
                <a16:creationId xmlns:a16="http://schemas.microsoft.com/office/drawing/2014/main" id="{B3433FEF-10BC-4697-BFD1-23FB120DC694}"/>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A06783BA-FF2A-4525-BFF0-ECBA73977074}"/>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90555bc4424ee1"/>
    <p:sldLayoutId xmlns:r="http://schemas.openxmlformats.org/officeDocument/2006/relationships" id="2147483650" r:id="R9878180fea2b4a74"/>
    <p:sldLayoutId xmlns:r="http://schemas.openxmlformats.org/officeDocument/2006/relationships" id="2147483651" r:id="R5e7796c9a76e414b"/>
    <p:sldLayoutId xmlns:r="http://schemas.openxmlformats.org/officeDocument/2006/relationships" id="2147483652" r:id="R7314238b1fce41f2"/>
    <p:sldLayoutId xmlns:r="http://schemas.openxmlformats.org/officeDocument/2006/relationships" id="2147483653" r:id="R00503c2a7aed4d7d"/>
    <p:sldLayoutId xmlns:r="http://schemas.openxmlformats.org/officeDocument/2006/relationships" id="2147483654" r:id="R9aefe935e21744d3"/>
    <p:sldLayoutId xmlns:r="http://schemas.openxmlformats.org/officeDocument/2006/relationships" id="2147483655" r:id="R1fda42d50ba94928"/>
    <p:sldLayoutId xmlns:r="http://schemas.openxmlformats.org/officeDocument/2006/relationships" id="2147483656" r:id="Rd37ad2e616104e49"/>
    <p:sldLayoutId xmlns:r="http://schemas.openxmlformats.org/officeDocument/2006/relationships" id="2147483657" r:id="Rfa2149bff3104b81"/>
    <p:sldLayoutId xmlns:r="http://schemas.openxmlformats.org/officeDocument/2006/relationships" id="2147483658" r:id="R89706259825143a5"/>
    <p:sldLayoutId xmlns:r="http://schemas.openxmlformats.org/officeDocument/2006/relationships" id="2147483659" r:id="Rd1cc6566a0564bee"/>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e28182bd97c49ad" /><Relationship Type="http://schemas.openxmlformats.org/officeDocument/2006/relationships/image" Target="/ppt/media/image.png" Id="R1742d7cb341a4ff0" /><Relationship Type="http://schemas.openxmlformats.org/officeDocument/2006/relationships/image" Target="/ppt/media/image2.png" Id="R344766d52688460f" /><Relationship Type="http://schemas.openxmlformats.org/officeDocument/2006/relationships/notesSlide" Target="/ppt/notesSlides/notesSlide1.xml" Id="R47564a1575c842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d1c1bb24ec8e4071" /><Relationship Type="http://schemas.openxmlformats.org/officeDocument/2006/relationships/image" Target="/ppt/media/image2.png" Id="R48c35a611a6c4b7e" /><Relationship Type="http://schemas.openxmlformats.org/officeDocument/2006/relationships/image" Target="/ppt/media/image3.png" Id="R4c90c675fcc54010" /><Relationship Type="http://schemas.openxmlformats.org/officeDocument/2006/relationships/image" Target="/ppt/media/image4.png" Id="R20b9e6918d41483d" /><Relationship Type="http://schemas.openxmlformats.org/officeDocument/2006/relationships/notesSlide" Target="/ppt/notesSlides/notesSlide2.xml" Id="Rd037bbd2672a4f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62c2417c8dc746bb" /><Relationship Type="http://schemas.openxmlformats.org/officeDocument/2006/relationships/image" Target="/ppt/media/image2.png" Id="Reb17be7901e04d2b" /><Relationship Type="http://schemas.openxmlformats.org/officeDocument/2006/relationships/image" Target="/ppt/media/image5.png" Id="R3e3d5db2585748bc" /><Relationship Type="http://schemas.openxmlformats.org/officeDocument/2006/relationships/notesSlide" Target="/ppt/notesSlides/notesSlide3.xml" Id="R4d459bde4eec48fa"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ab223e8ac6b4816" /><Relationship Type="http://schemas.openxmlformats.org/officeDocument/2006/relationships/image" Target="/ppt/media/image2.png" Id="R0a50b2c5b5bc4f24" /><Relationship Type="http://schemas.openxmlformats.org/officeDocument/2006/relationships/notesSlide" Target="/ppt/notesSlides/notesSlide4.xml" Id="Rdbaad8e1bddd4e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ff39da3e9be448c5" /><Relationship Type="http://schemas.openxmlformats.org/officeDocument/2006/relationships/image" Target="/ppt/media/image2.png" Id="R4a643bf916674f15" /><Relationship Type="http://schemas.openxmlformats.org/officeDocument/2006/relationships/image" Target="/ppt/media/image6.png" Id="R73072008ba3b4d77" /><Relationship Type="http://schemas.openxmlformats.org/officeDocument/2006/relationships/image" Target="/ppt/media/image7.png" Id="R61b0fb92e1244b7c" /><Relationship Type="http://schemas.openxmlformats.org/officeDocument/2006/relationships/notesSlide" Target="/ppt/notesSlides/notesSlide5.xml" Id="Rdaf245f99d4141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25277e178cc947e8" /><Relationship Type="http://schemas.openxmlformats.org/officeDocument/2006/relationships/image" Target="/ppt/media/image2.png" Id="R23e16ebd9ec84a20" /><Relationship Type="http://schemas.openxmlformats.org/officeDocument/2006/relationships/image" Target="/ppt/media/image8.png" Id="Rcd78fedafdf14f92" /><Relationship Type="http://schemas.openxmlformats.org/officeDocument/2006/relationships/notesSlide" Target="/ppt/notesSlides/notesSlide6.xml" Id="R8de5486ed0dd49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2d1cde3ca7df4639" /><Relationship Type="http://schemas.openxmlformats.org/officeDocument/2006/relationships/image" Target="/ppt/media/image2.png" Id="Ra7a944d86bf14452" /><Relationship Type="http://schemas.openxmlformats.org/officeDocument/2006/relationships/notesSlide" Target="/ppt/notesSlides/notesSlide7.xml" Id="R58628a18f73c46b8"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42"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1742d7cb341a4ff0"/>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sp>
        <p:nvSpPr>
          <p:cNvPr id="4" name="Subtitle 3">
            <a:extLst xmlns:a="http://schemas.openxmlformats.org/drawingml/2006/main">
              <a:ext uri="{FF2B5EF4-FFF2-40B4-BE49-F238E27FC236}">
                <a16:creationId xmlns:a16="http://schemas.microsoft.com/office/drawing/2014/main" id="{882E5A1D-EDF4-40DF-B3C0-054EE9EC51A9}"/>
              </a:ext>
            </a:extLst>
          </p:cNvPr>
          <p:cNvSpPr>
            <a:spLocks xmlns:a="http://schemas.openxmlformats.org/drawingml/2006/main" noGrp="1"/>
          </p:cNvSpPr>
          <p:nvPr>
            <p:ph type="subTitle" idx="1"/>
          </p:nvPr>
        </p:nvSpPr>
        <p:spPr>
          <a:xfrm xmlns:a="http://schemas.openxmlformats.org/drawingml/2006/main">
            <a:off x="1245686" y="648614"/>
            <a:ext cx="8534400" cy="1752600"/>
          </a:xfrm>
        </p:spPr>
        <p:txBody>
          <a:bodyPr xmlns:a="http://schemas.openxmlformats.org/drawingml/2006/main"/>
          <a:lstStyle xmlns:a="http://schemas.openxmlformats.org/drawingml/2006/main"/>
          <a:p xmlns:a="http://schemas.openxmlformats.org/drawingml/2006/main">
            <a:r>
              <a:rPr>
                <a:solidFill>
                  <a:schemeClr val="tx1"/>
                </a:solidFill>
              </a:rPr>
              <a:t>SafeByte CryptoTrace VASP</a:t>
            </a:r>
            <a:endParaRPr/>
          </a:p>
        </p:txBody>
      </p:sp>
      <p:sp>
        <p:nvSpPr>
          <p:cNvPr id="8" name="Title 7">
            <a:extLst xmlns:a="http://schemas.openxmlformats.org/drawingml/2006/main">
              <a:ext uri="{FF2B5EF4-FFF2-40B4-BE49-F238E27FC236}">
                <a16:creationId xmlns:a16="http://schemas.microsoft.com/office/drawing/2014/main" id="{F5AE4E90-FECF-4283-A62A-E2EE271BDE57}"/>
              </a:ext>
            </a:extLst>
          </p:cNvPr>
          <p:cNvSpPr>
            <a:spLocks xmlns:a="http://schemas.openxmlformats.org/drawingml/2006/main" noGrp="1"/>
          </p:cNvSpPr>
          <p:nvPr>
            <p:ph type="ctrTitle" idx="0"/>
          </p:nvPr>
        </p:nvSpPr>
        <p:spPr>
          <a:xfrm xmlns:a="http://schemas.openxmlformats.org/drawingml/2006/main">
            <a:off x="331286" y="-526757"/>
            <a:ext cx="10363200" cy="2076450"/>
          </a:xfrm>
        </p:spPr>
        <p:txBody>
          <a:bodyPr xmlns:a="http://schemas.openxmlformats.org/drawingml/2006/main"/>
          <a:lstStyle xmlns:a="http://schemas.openxmlformats.org/drawingml/2006/main"/>
          <a:p xmlns:a="http://schemas.openxmlformats.org/drawingml/2006/main">
            <a:r>
              <a:rPr sz="4000" b="1">
                <a:solidFill>
                  <a:schemeClr val="tx2"/>
                </a:solidFill>
                <a:latin typeface="Garamond"/>
                <a:ea typeface="Garamond"/>
                <a:cs typeface="Garamond"/>
              </a:rPr>
              <a:t>SMART INDIA HACKATHON 2026</a:t>
            </a:r>
            <a:endParaRPr sz="4000" b="1">
              <a:solidFill>
                <a:schemeClr val="tx2"/>
              </a:solidFill>
              <a:latin typeface="Garamond"/>
              <a:ea typeface="Garamond"/>
              <a:cs typeface="Garamond"/>
            </a:endParaRPr>
          </a:p>
        </p:txBody>
      </p:sp>
      <p:sp>
        <p:nvSpPr>
          <p:cNvPr id="10" name="TextBox 9">
            <a:extLst xmlns:a="http://schemas.openxmlformats.org/drawingml/2006/main">
              <a:ext uri="{FF2B5EF4-FFF2-40B4-BE49-F238E27FC236}">
                <a16:creationId xmlns:a16="http://schemas.microsoft.com/office/drawing/2014/main" id="{B159CD38-E0EE-499D-B482-0EAB3D07C7A2}"/>
              </a:ext>
            </a:extLst>
          </p:cNvPr>
          <p:cNvSpPr>
            <a:spLocks xmlns:a="http://schemas.openxmlformats.org/drawingml/2006/main" noGrp="1"/>
          </p:cNvSpPr>
          <p:nvPr/>
        </p:nvSpPr>
        <p:spPr>
          <a:xfrm xmlns:a="http://schemas.openxmlformats.org/drawingml/2006/main">
            <a:off x="331286" y="2076450"/>
            <a:ext cx="6397516" cy="377952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t">
            <a:spAutoFit/>
          </a:bodyPr>
          <a:lstStyle xmlns:a="http://schemas.openxmlformats.org/drawingml/2006/main"/>
          <a:p xmlns:a="http://schemas.openxmlformats.org/drawingml/2006/main">
            <a:r>
              <a:t/>
            </a:r>
            <a:endParaRPr/>
          </a:p>
          <a:p xmlns:a="http://schemas.openxmlformats.org/drawingml/2006/main">
            <a:pPr marL="285750" indent="-285750" algn="just">
              <a:lnSpc>
                <a:spcPct val="200000"/>
              </a:lnSpc>
              <a:buFont typeface="Arial"/>
              <a:buChar char="•"/>
            </a:pPr>
            <a:r>
              <a:rPr sz="1600" b="1">
                <a:latin typeface="Arial"/>
                <a:ea typeface="Arial"/>
                <a:cs typeface="Arial"/>
              </a:rPr>
              <a:t>Problem Statement ID - SIH26182</a:t>
            </a:r>
          </a:p>
          <a:p xmlns:a="http://schemas.openxmlformats.org/drawingml/2006/main">
            <a:pPr marL="285750" indent="-285750">
              <a:lnSpc>
                <a:spcPct val="200000"/>
              </a:lnSpc>
              <a:buFont typeface="Arial"/>
              <a:buChar char="•"/>
            </a:pPr>
            <a:r>
              <a:rPr sz="1600" b="1">
                <a:latin typeface="Arial"/>
                <a:ea typeface="Arial"/>
                <a:cs typeface="Arial"/>
              </a:rPr>
              <a:t>Problem Statement Title - Automated Attribution of Unknown Cryptocurrency Wallets to Nearest Virtual Asset Service Providers (VASPs) through Blockchain Intelligence APIs</a:t>
            </a:r>
            <a:endParaRPr/>
          </a:p>
          <a:p xmlns:a="http://schemas.openxmlformats.org/drawingml/2006/main">
            <a:pPr marL="285750" indent="-285750" algn="just">
              <a:lnSpc>
                <a:spcPct val="200000"/>
              </a:lnSpc>
              <a:buFont typeface="Arial"/>
              <a:buChar char="•"/>
            </a:pPr>
            <a:r>
              <a:rPr sz="1600" b="1">
                <a:latin typeface="Arial"/>
                <a:ea typeface="Arial"/>
                <a:cs typeface="Arial"/>
              </a:rPr>
              <a:t>Theme - Blockchain &amp; Cybersecurity</a:t>
            </a:r>
          </a:p>
          <a:p xmlns:a="http://schemas.openxmlformats.org/drawingml/2006/main">
            <a:pPr marL="285750" indent="-285750" algn="just">
              <a:lnSpc>
                <a:spcPct val="200000"/>
              </a:lnSpc>
              <a:buFont typeface="Arial"/>
              <a:buChar char="•"/>
            </a:pPr>
            <a:r>
              <a:rPr sz="1600" b="1">
                <a:latin typeface="Arial"/>
                <a:ea typeface="Arial"/>
                <a:cs typeface="Arial"/>
              </a:rPr>
              <a:t>PS Category - Software</a:t>
            </a:r>
          </a:p>
          <a:p xmlns:a="http://schemas.openxmlformats.org/drawingml/2006/main">
            <a:pPr marL="285750" indent="-285750" algn="just">
              <a:lnSpc>
                <a:spcPct val="200000"/>
              </a:lnSpc>
              <a:buFont typeface="Arial"/>
              <a:buChar char="•"/>
            </a:pPr>
            <a:r>
              <a:rPr sz="1600" b="1">
                <a:latin typeface="Arial"/>
                <a:ea typeface="Arial"/>
                <a:cs typeface="Arial"/>
              </a:rPr>
              <a:t>Team ID (on portal) - SAFEBYTE</a:t>
            </a:r>
            <a:endParaRPr sz="1600" b="1">
              <a:latin typeface="Arial"/>
              <a:ea typeface="Arial"/>
              <a:cs typeface="Arial"/>
            </a:endParaRPr>
          </a:p>
        </p:txBody>
      </p:sp>
      <p:pic>
        <p:nvPicPr>
          <p:cNvPr id="46" name="Picture 1"/>
          <p:cNvPicPr>
            <a:picLocks xmlns:a="http://schemas.openxmlformats.org/drawingml/2006/main" noChangeAspect="1"/>
          </p:cNvPicPr>
          <p:nvPr/>
        </p:nvPicPr>
        <p:blipFill>
          <a:blip xmlns:r="http://schemas.openxmlformats.org/officeDocument/2006/relationships" xmlns:a="http://schemas.openxmlformats.org/drawingml/2006/main" r:embed="R344766d52688460f"/>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Tree>
    <p:extLst>
      <p:ext uri="{BB962C8B-B14F-4D97-AF65-F5344CB8AC3E}">
        <p14:creationId xmlns:p14="http://schemas.microsoft.com/office/powerpoint/2010/main" val="129618049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E3B466C6-7DA1-494F-9324-3D8244D6D8A8}"/>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2" name="TextBox 8">
            <a:extLst xmlns:a="http://schemas.openxmlformats.org/drawingml/2006/main">
              <a:ext uri="{FF2B5EF4-FFF2-40B4-BE49-F238E27FC236}">
                <a16:creationId xmlns:a16="http://schemas.microsoft.com/office/drawing/2014/main" id="{8BE4F903-C8AB-48EB-85D5-C2C795CB9A1F}"/>
              </a:ext>
            </a:extLst>
          </p:cNvPr>
          <p:cNvSpPr>
            <a:spLocks xmlns:a="http://schemas.openxmlformats.org/drawingml/2006/main" noGrp="1"/>
          </p:cNvSpPr>
          <p:nvPr/>
        </p:nvSpPr>
        <p:spPr>
          <a:xfrm xmlns:a="http://schemas.openxmlformats.org/drawingml/2006/main">
            <a:off x="1897529" y="279450"/>
            <a:ext cx="12191999" cy="5847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91440" tIns="45720" rIns="91440" bIns="45720" anchor="t">
            <a:spAutoFit/>
          </a:bodyPr>
          <a:lstStyle xmlns:a="http://schemas.openxmlformats.org/drawingml/2006/main"/>
          <a:p xmlns:a="http://schemas.openxmlformats.org/drawingml/2006/main">
            <a:pPr marL="342900" indent="-342900">
              <a:buFont typeface="Wingdings"/>
              <a:buChar char="v"/>
            </a:pPr>
            <a:r>
              <a:rPr sz="1600" b="1" u="sng">
                <a:solidFill>
                  <a:schemeClr val="tx2"/>
                </a:solidFill>
                <a:latin typeface="Arial"/>
                <a:ea typeface="Arial"/>
                <a:cs typeface="Arial"/>
              </a:rPr>
              <a:t>Proposed Solution (Describe your Idea/Solution/Prototype)</a:t>
            </a:r>
            <a:endParaRPr sz="1600" u="sng">
              <a:solidFill>
                <a:schemeClr val="tx2"/>
              </a:solidFill>
              <a:latin typeface="Arial"/>
              <a:ea typeface="Arial"/>
              <a:cs typeface="Arial"/>
            </a:endParaRPr>
          </a:p>
          <a:p xmlns:a="http://schemas.openxmlformats.org/drawingml/2006/main">
            <a:pPr marL="342900" indent="-342900">
              <a:buFont typeface="Arial"/>
              <a:buChar char="•"/>
            </a:pPr>
            <a:endParaRPr sz="1600">
              <a:latin typeface="Arial"/>
              <a:ea typeface="Arial"/>
              <a:cs typeface="Arial"/>
            </a:endParaRPr>
          </a:p>
        </p:txBody>
      </p:sp>
      <p:sp>
        <p:nvSpPr>
          <p:cNvPr id="6" name="Slide Number Placeholder 5">
            <a:extLst xmlns:a="http://schemas.openxmlformats.org/drawingml/2006/main">
              <a:ext uri="{FF2B5EF4-FFF2-40B4-BE49-F238E27FC236}">
                <a16:creationId xmlns:a16="http://schemas.microsoft.com/office/drawing/2014/main" id="{0CC8082C-4980-4975-9B15-C90FFFBDDEA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rPr b="1">
                <a:solidFill>
                  <a:schemeClr val="bg1"/>
                </a:solidFill>
              </a:rPr>
              <a:t>2</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29BCB3CC-508C-4AD8-AAC3-B5254712F7A4}"/>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0" name="Oval 9">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1067" y="170070"/>
            <a:ext cx="1677680"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lIns="91440" tIns="45720" rIns="91440" bIns="45720" anchor="ctr"/>
          <a:lstStyle xmlns:a="http://schemas.openxmlformats.org/drawingml/2006/main"/>
          <a:p xmlns:a="http://schemas.openxmlformats.org/drawingml/2006/main">
            <a:pPr algn="ctr">
              <a:buNone/>
            </a:pPr>
            <a:r>
              <a:t>SafeByte</a:t>
            </a:r>
            <a:endParaRPr/>
          </a:p>
        </p:txBody>
      </p:sp>
      <p:pic>
        <p:nvPicPr>
          <p:cNvPr id="15371" name="Picture 10"/>
          <p:cNvPicPr>
            <a:picLocks xmlns:a="http://schemas.openxmlformats.org/drawingml/2006/main" noChangeAspect="1"/>
          </p:cNvPicPr>
          <p:nvPr/>
        </p:nvPicPr>
        <p:blipFill>
          <a:blip xmlns:r="http://schemas.openxmlformats.org/officeDocument/2006/relationships" xmlns:a="http://schemas.openxmlformats.org/drawingml/2006/main" r:embed="R48c35a611a6c4b7e"/>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17C46097-FB46-D524-A1BC-1708C0FFF09B}"/>
              </a:ext>
            </a:extLst>
          </p:cNvPr>
          <p:cNvSpPr>
            <a:spLocks xmlns:a="http://schemas.openxmlformats.org/drawingml/2006/main" noGrp="1"/>
          </p:cNvSpPr>
          <p:nvPr/>
        </p:nvSpPr>
        <p:spPr>
          <a:xfrm xmlns:a="http://schemas.openxmlformats.org/drawingml/2006/main">
            <a:off x="179295" y="1135529"/>
            <a:ext cx="5005295" cy="2400657"/>
          </a:xfrm>
          <a:prstGeom xmlns:a="http://schemas.openxmlformats.org/drawingml/2006/main" prst="rect">
            <a:avLst/>
          </a:prstGeom>
          <a:noFill xmlns:a="http://schemas.openxmlformats.org/drawingml/2006/main"/>
        </p:spPr>
        <p:txBody>
          <a:bodyPr xmlns:a="http://schemas.openxmlformats.org/drawingml/2006/main" rot="0" spcFirstLastPara="0" vert="horz" wrap="square" lIns="91440" tIns="45720" rIns="91440" bIns="45720" anchor="t">
            <a:spAutoFit/>
          </a:bodyPr>
          <a:lstStyle xmlns:a="http://schemas.openxmlformats.org/drawingml/2006/main"/>
          <a:p xmlns:a="http://schemas.openxmlformats.org/drawingml/2006/main">
            <a:r>
              <a:rPr sz="1200" b="1">
                <a:latin typeface="Calibri"/>
                <a:ea typeface="Calibri"/>
                <a:cs typeface="Calibri"/>
              </a:rPr>
              <a:t>Problem</a:t>
            </a:r>
          </a:p>
          <a:p xmlns:a="http://schemas.openxmlformats.org/drawingml/2006/main">
            <a:r>
              <a:rPr sz="1200">
                <a:latin typeface="Calibri"/>
                <a:ea typeface="Calibri"/>
                <a:cs typeface="Calibri"/>
              </a:rPr>
              <a:t>Investigators receive suspect cryptocurrency wallets from fraud complaints, but the nearest exchange or custodial service is often unknown. Manual tracing through intermediary wallets delays evidence preservation, asset freezing, and victim fund recovery.</a:t>
            </a:r>
            <a:endParaRPr sz="1200">
              <a:latin typeface="Calibri"/>
              <a:ea typeface="Calibri"/>
              <a:cs typeface="Calibri"/>
            </a:endParaRPr>
          </a:p>
          <a:p xmlns:a="http://schemas.openxmlformats.org/drawingml/2006/main">
            <a:r>
              <a:t/>
            </a:r>
            <a:endParaRPr sz="1200">
              <a:latin typeface="Calibri"/>
              <a:ea typeface="Calibri"/>
              <a:cs typeface="Calibri"/>
            </a:endParaRPr>
          </a:p>
          <a:p xmlns:a="http://schemas.openxmlformats.org/drawingml/2006/main">
            <a:r>
              <a:rPr sz="1200" b="1">
                <a:latin typeface="Calibri"/>
                <a:ea typeface="Calibri"/>
                <a:cs typeface="Calibri"/>
              </a:rPr>
              <a:t>Proposed Solution</a:t>
            </a:r>
          </a:p>
          <a:p xmlns:a="http://schemas.openxmlformats.org/drawingml/2006/main">
            <a:r>
              <a:rPr sz="1200">
                <a:latin typeface="Calibri"/>
                <a:ea typeface="Calibri"/>
                <a:cs typeface="Calibri"/>
              </a:rPr>
              <a:t>SafeByte CryptoTrace links the complaint to the wallet, detects its chain, collects available blockchain evidence, maps recent fund movement, checks known risky entities, and prepares an attribution record for verified VASP follow-up.</a:t>
            </a:r>
            <a:endParaRPr sz="1200">
              <a:latin typeface="Calibri"/>
              <a:ea typeface="Calibri"/>
              <a:cs typeface="Calibri"/>
            </a:endParaRPr>
          </a:p>
        </p:txBody>
      </p:sp>
      <p:sp>
        <p:nvSpPr>
          <p:cNvPr id="5" name="TextBox 4">
            <a:extLst xmlns:a="http://schemas.openxmlformats.org/drawingml/2006/main">
              <a:ext uri="{FF2B5EF4-FFF2-40B4-BE49-F238E27FC236}">
                <a16:creationId xmlns:a16="http://schemas.microsoft.com/office/drawing/2014/main" id="{E44A453A-C798-861D-2938-9FB17E5A5A94}"/>
              </a:ext>
            </a:extLst>
          </p:cNvPr>
          <p:cNvSpPr>
            <a:spLocks xmlns:a="http://schemas.openxmlformats.org/drawingml/2006/main" noGrp="1"/>
          </p:cNvSpPr>
          <p:nvPr/>
        </p:nvSpPr>
        <p:spPr>
          <a:xfrm xmlns:a="http://schemas.openxmlformats.org/drawingml/2006/main">
            <a:off x="5692588" y="866587"/>
            <a:ext cx="6096000" cy="3657600"/>
          </a:xfrm>
          <a:prstGeom xmlns:a="http://schemas.openxmlformats.org/drawingml/2006/main" prst="rect">
            <a:avLst/>
          </a:prstGeom>
          <a:noFill xmlns:a="http://schemas.openxmlformats.org/drawingml/2006/main"/>
        </p:spPr>
        <p:txBody>
          <a:bodyPr xmlns:a="http://schemas.openxmlformats.org/drawingml/2006/main" rot="0" spcFirstLastPara="0" vert="horz" wrap="square" lIns="47625" tIns="38100" rIns="47625" bIns="38100" anchor="t">
            <a:normAutofit fontScale="100000"/>
          </a:bodyPr>
          <a:lstStyle xmlns:a="http://schemas.openxmlformats.org/drawingml/2006/main"/>
          <a:p xmlns:a="http://schemas.openxmlformats.org/drawingml/2006/main">
            <a:pPr algn="l">
              <a:spcAft>
                <a:spcPts val="480"/>
              </a:spcAft>
            </a:pPr>
            <a:r>
              <a:rPr sz="1300" b="1">
                <a:solidFill>
                  <a:srgbClr val="111111"/>
                </a:solidFill>
                <a:latin typeface="Calibri"/>
                <a:ea typeface="Calibri"/>
                <a:cs typeface="Calibri"/>
              </a:rPr>
              <a:t>WORKING PROTOTYPE</a:t>
            </a:r>
          </a:p>
          <a:p xmlns:a="http://schemas.openxmlformats.org/drawingml/2006/main">
            <a:pPr algn="l">
              <a:spcAft>
                <a:spcPts val="80"/>
              </a:spcAft>
            </a:pPr>
            <a:r>
              <a:rPr sz="1150" b="1">
                <a:solidFill>
                  <a:srgbClr val="111111"/>
                </a:solidFill>
                <a:latin typeface="Calibri"/>
                <a:ea typeface="Calibri"/>
                <a:cs typeface="Calibri"/>
              </a:rPr>
              <a:t>COMPLAINT INTAKE</a:t>
            </a:r>
          </a:p>
          <a:p xmlns:a="http://schemas.openxmlformats.org/drawingml/2006/main">
            <a:pPr algn="l">
              <a:spcAft>
                <a:spcPts val="300"/>
              </a:spcAft>
            </a:pPr>
            <a:r>
              <a:rPr sz="1050" b="0">
                <a:solidFill>
                  <a:srgbClr val="111111"/>
                </a:solidFill>
                <a:latin typeface="Calibri"/>
                <a:ea typeface="Calibri"/>
                <a:cs typeface="Calibri"/>
              </a:rPr>
              <a:t>NCRP, SAHYOG, or manual LEA case reference.</a:t>
            </a:r>
          </a:p>
          <a:p xmlns:a="http://schemas.openxmlformats.org/drawingml/2006/main">
            <a:pPr algn="l">
              <a:spcAft>
                <a:spcPts val="80"/>
              </a:spcAft>
            </a:pPr>
            <a:r>
              <a:rPr sz="1150" b="1">
                <a:solidFill>
                  <a:srgbClr val="111111"/>
                </a:solidFill>
                <a:latin typeface="Calibri"/>
                <a:ea typeface="Calibri"/>
                <a:cs typeface="Calibri"/>
              </a:rPr>
              <a:t>WALLET AND CHAIN DETECTION</a:t>
            </a:r>
          </a:p>
          <a:p xmlns:a="http://schemas.openxmlformats.org/drawingml/2006/main">
            <a:pPr algn="l">
              <a:spcAft>
                <a:spcPts val="300"/>
              </a:spcAft>
            </a:pPr>
            <a:r>
              <a:rPr sz="1050" b="0">
                <a:solidFill>
                  <a:srgbClr val="111111"/>
                </a:solidFill>
                <a:latin typeface="Calibri"/>
                <a:ea typeface="Calibri"/>
                <a:cs typeface="Calibri"/>
              </a:rPr>
              <a:t>Recognises seven wallet address formats.</a:t>
            </a:r>
          </a:p>
          <a:p xmlns:a="http://schemas.openxmlformats.org/drawingml/2006/main">
            <a:pPr algn="l">
              <a:spcAft>
                <a:spcPts val="80"/>
              </a:spcAft>
            </a:pPr>
            <a:r>
              <a:rPr sz="1150" b="1">
                <a:solidFill>
                  <a:srgbClr val="111111"/>
                </a:solidFill>
                <a:latin typeface="Calibri"/>
                <a:ea typeface="Calibri"/>
                <a:cs typeface="Calibri"/>
              </a:rPr>
              <a:t>BLOCKCHAIN EVIDENCE</a:t>
            </a:r>
          </a:p>
          <a:p xmlns:a="http://schemas.openxmlformats.org/drawingml/2006/main">
            <a:pPr algn="l">
              <a:spcAft>
                <a:spcPts val="300"/>
              </a:spcAft>
            </a:pPr>
            <a:r>
              <a:rPr sz="1050" b="0">
                <a:solidFill>
                  <a:srgbClr val="111111"/>
                </a:solidFill>
                <a:latin typeface="Calibri"/>
                <a:ea typeface="Calibri"/>
                <a:cs typeface="Calibri"/>
              </a:rPr>
              <a:t>Live Ethereum and Bitcoin transactions; Tron balance.</a:t>
            </a:r>
          </a:p>
          <a:p xmlns:a="http://schemas.openxmlformats.org/drawingml/2006/main">
            <a:pPr algn="l">
              <a:spcAft>
                <a:spcPts val="80"/>
              </a:spcAft>
            </a:pPr>
            <a:r>
              <a:rPr sz="1150" b="1">
                <a:solidFill>
                  <a:srgbClr val="111111"/>
                </a:solidFill>
                <a:latin typeface="Calibri"/>
                <a:ea typeface="Calibri"/>
                <a:cs typeface="Calibri"/>
              </a:rPr>
              <a:t>FUND-FLOW VIEW</a:t>
            </a:r>
          </a:p>
          <a:p xmlns:a="http://schemas.openxmlformats.org/drawingml/2006/main">
            <a:pPr algn="l">
              <a:spcAft>
                <a:spcPts val="300"/>
              </a:spcAft>
            </a:pPr>
            <a:r>
              <a:rPr sz="1050" b="0">
                <a:solidFill>
                  <a:srgbClr val="111111"/>
                </a:solidFill>
                <a:latin typeface="Calibri"/>
                <a:ea typeface="Calibri"/>
                <a:cs typeface="Calibri"/>
              </a:rPr>
              <a:t>Shows recent incoming and outgoing counterparties.</a:t>
            </a:r>
          </a:p>
          <a:p xmlns:a="http://schemas.openxmlformats.org/drawingml/2006/main">
            <a:pPr algn="l">
              <a:spcAft>
                <a:spcPts val="80"/>
              </a:spcAft>
            </a:pPr>
            <a:r>
              <a:rPr sz="1150" b="1">
                <a:solidFill>
                  <a:srgbClr val="111111"/>
                </a:solidFill>
                <a:latin typeface="Calibri"/>
                <a:ea typeface="Calibri"/>
                <a:cs typeface="Calibri"/>
              </a:rPr>
              <a:t>RISK AND REGISTRY CHECKS</a:t>
            </a:r>
          </a:p>
          <a:p xmlns:a="http://schemas.openxmlformats.org/drawingml/2006/main">
            <a:pPr algn="l">
              <a:spcAft>
                <a:spcPts val="300"/>
              </a:spcAft>
            </a:pPr>
            <a:r>
              <a:rPr sz="1050" b="0">
                <a:solidFill>
                  <a:srgbClr val="111111"/>
                </a:solidFill>
                <a:latin typeface="Calibri"/>
                <a:ea typeface="Calibri"/>
                <a:cs typeface="Calibri"/>
              </a:rPr>
              <a:t>Scores activity and checks known high-risk addresses.</a:t>
            </a:r>
          </a:p>
          <a:p xmlns:a="http://schemas.openxmlformats.org/drawingml/2006/main">
            <a:pPr algn="l">
              <a:spcAft>
                <a:spcPts val="80"/>
              </a:spcAft>
            </a:pPr>
            <a:r>
              <a:rPr sz="1150" b="1">
                <a:solidFill>
                  <a:srgbClr val="111111"/>
                </a:solidFill>
                <a:latin typeface="Calibri"/>
                <a:ea typeface="Calibri"/>
                <a:cs typeface="Calibri"/>
              </a:rPr>
              <a:t>VASP ATTRIBUTION STATUS</a:t>
            </a:r>
          </a:p>
          <a:p xmlns:a="http://schemas.openxmlformats.org/drawingml/2006/main">
            <a:pPr algn="l">
              <a:spcAft>
                <a:spcPts val="0"/>
              </a:spcAft>
            </a:pPr>
            <a:r>
              <a:rPr sz="1050" b="0">
                <a:solidFill>
                  <a:srgbClr val="111111"/>
                </a:solidFill>
                <a:latin typeface="Calibri"/>
                <a:ea typeface="Calibri"/>
                <a:cs typeface="Calibri"/>
              </a:rPr>
              <a:t>Reports a match only when evidence supports it.</a:t>
            </a:r>
          </a:p>
        </p:txBody>
      </p:sp>
      <p:pic>
        <p:nvPicPr>
          <p:cNvPr id="15374" name="Picture 7"/>
          <p:cNvPicPr>
            <a:picLocks xmlns:a="http://schemas.openxmlformats.org/drawingml/2006/main" noChangeAspect="1"/>
          </p:cNvPicPr>
          <p:nvPr/>
        </p:nvPicPr>
        <p:blipFill>
          <a:blip xmlns:r="http://schemas.openxmlformats.org/officeDocument/2006/relationships" xmlns:a="http://schemas.openxmlformats.org/drawingml/2006/main" r:embed="R4c90c675fcc54010"/>
          <a:stretch xmlns:a="http://schemas.openxmlformats.org/drawingml/2006/main">
            <a:fillRect l="0" t="0" r="0" b="0"/>
          </a:stretch>
        </p:blipFill>
        <p:spPr>
          <a:xfrm xmlns:a="http://schemas.openxmlformats.org/drawingml/2006/main">
            <a:off x="5692587" y="3426687"/>
            <a:ext cx="6357469" cy="2843448"/>
          </a:xfrm>
          <a:prstGeom xmlns:a="http://schemas.openxmlformats.org/drawingml/2006/main" prst="rect">
            <a:avLst/>
          </a:prstGeom>
        </p:spPr>
      </p:pic>
      <p:pic>
        <p:nvPicPr>
          <p:cNvPr id="15375" name="Picture 11"/>
          <p:cNvPicPr>
            <a:picLocks xmlns:a="http://schemas.openxmlformats.org/drawingml/2006/main" noChangeAspect="1"/>
          </p:cNvPicPr>
          <p:nvPr/>
        </p:nvPicPr>
        <p:blipFill>
          <a:blip xmlns:r="http://schemas.openxmlformats.org/officeDocument/2006/relationships" xmlns:a="http://schemas.openxmlformats.org/drawingml/2006/main" r:embed="R20b9e6918d41483d"/>
          <a:stretch xmlns:a="http://schemas.openxmlformats.org/drawingml/2006/main">
            <a:fillRect l="0" t="0" r="0" b="0"/>
          </a:stretch>
        </p:blipFill>
        <p:spPr>
          <a:xfrm xmlns:a="http://schemas.openxmlformats.org/drawingml/2006/main">
            <a:off x="179293" y="3430344"/>
            <a:ext cx="5326530" cy="2851078"/>
          </a:xfrm>
          <a:prstGeom xmlns:a="http://schemas.openxmlformats.org/drawingml/2006/main" prst="rect">
            <a:avLst/>
          </a:prstGeom>
        </p:spPr>
      </p:pic>
    </p:spTree>
    <p:extLst>
      <p:ext uri="{BB962C8B-B14F-4D97-AF65-F5344CB8AC3E}">
        <p14:creationId xmlns:p14="http://schemas.microsoft.com/office/powerpoint/2010/main" val="192164942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5A3FF49E-529F-409A-8F54-7EB3FBCC58B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rPr sz="3600" b="1">
                <a:latin typeface="Times New Roman"/>
                <a:ea typeface="Times New Roman"/>
                <a:cs typeface="Times New Roman"/>
              </a:rPr>
              <a:t>TECHNICAL APPROACH</a:t>
            </a:r>
          </a:p>
        </p:txBody>
      </p:sp>
      <p:sp>
        <p:nvSpPr>
          <p:cNvPr id="6" name="Slide Number Placeholder 5">
            <a:extLst xmlns:a="http://schemas.openxmlformats.org/drawingml/2006/main">
              <a:ext uri="{FF2B5EF4-FFF2-40B4-BE49-F238E27FC236}">
                <a16:creationId xmlns:a16="http://schemas.microsoft.com/office/drawing/2014/main" id="{AF70DF48-039A-4410-9F0E-832BF949641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rPr b="1">
                <a:solidFill>
                  <a:schemeClr val="bg1"/>
                </a:solidFill>
              </a:rPr>
              <a:t>3</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3AA42140-842D-4051-851F-FAD7352D2CF9}"/>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pic>
        <p:nvPicPr>
          <p:cNvPr id="17417" name="Picture 11"/>
          <p:cNvPicPr>
            <a:picLocks xmlns:a="http://schemas.openxmlformats.org/drawingml/2006/main" noChangeAspect="1"/>
          </p:cNvPicPr>
          <p:nvPr/>
        </p:nvPicPr>
        <p:blipFill>
          <a:blip xmlns:r="http://schemas.openxmlformats.org/officeDocument/2006/relationships" xmlns:a="http://schemas.openxmlformats.org/drawingml/2006/main" r:embed="Reb17be7901e04d2b"/>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graphicFrame>
        <p:nvGraphicFramePr>
          <p:cNvPr id="17418" name="Table 2"/>
          <p:cNvGraphicFramePr/>
          <p:nvPr/>
        </p:nvGraphicFramePr>
        <p:xfrm>
          <a:off xmlns:a="http://schemas.openxmlformats.org/drawingml/2006/main" x="926352" y="1098176"/>
          <a:ext xmlns:a="http://schemas.openxmlformats.org/drawingml/2006/main" cx="4409384" cy="2103120"/>
        </p:xfrm>
        <a:graphic xmlns:a="http://schemas.openxmlformats.org/drawingml/2006/main">
          <a:graphicData uri="http://schemas.openxmlformats.org/drawingml/2006/table">
            <a:tbl>
              <a:tblPr bandRow="1">
                <a:tableStyleId>{5C22544A-7EE6-4342-B048-85BDC9FD1C3A}</a:tableStyleId>
              </a:tblPr>
              <a:tblGrid>
                <a:gridCol w="2204692"/>
                <a:gridCol w="2204692"/>
              </a:tblGrid>
              <a:tr h="0">
                <a:tc>
                  <a:txBody>
                    <a:bodyPr/>
                    <a:lstStyle/>
                    <a:p>
                      <a:pPr>
                        <a:buNone/>
                      </a:pPr>
                      <a:r>
                        <a:rPr sz="1200"/>
                        <a:t>Layer</a:t>
                      </a:r>
                    </a:p>
                  </a:txBody>
                  <a:tcPr marL="91440" marR="91440" marT="45720" marB="45720" anchor="ctr"/>
                </a:tc>
                <a:tc>
                  <a:txBody>
                    <a:bodyPr/>
                    <a:lstStyle/>
                    <a:p>
                      <a:pPr>
                        <a:buNone/>
                      </a:pPr>
                      <a:r>
                        <a:rPr sz="1200"/>
                        <a:t>Technologies</a:t>
                      </a:r>
                    </a:p>
                  </a:txBody>
                  <a:tcPr marL="91440" marR="91440" marT="45720" marB="45720" anchor="ctr"/>
                </a:tc>
              </a:tr>
              <a:tr h="0">
                <a:tc>
                  <a:txBody>
                    <a:bodyPr/>
                    <a:lstStyle/>
                    <a:p>
                      <a:pPr>
                        <a:buNone/>
                      </a:pPr>
                      <a:r>
                        <a:rPr sz="1200"/>
                        <a:t>Frontend</a:t>
                      </a:r>
                      <a:endParaRPr sz="1200"/>
                    </a:p>
                  </a:txBody>
                  <a:tcPr marL="91440" marR="91440" marT="45720" marB="45720" anchor="ctr"/>
                </a:tc>
                <a:tc>
                  <a:txBody>
                    <a:bodyPr/>
                    <a:lstStyle/>
                    <a:p>
                      <a:pPr>
                        <a:buNone/>
                      </a:pPr>
                      <a:r>
                        <a:rPr sz="1200"/>
                        <a:t>React 18, TypeScript, Vite</a:t>
                      </a:r>
                      <a:endParaRPr sz="1200"/>
                    </a:p>
                  </a:txBody>
                  <a:tcPr marL="91440" marR="91440" marT="45720" marB="45720" anchor="ctr"/>
                </a:tc>
              </a:tr>
              <a:tr h="0">
                <a:tc>
                  <a:txBody>
                    <a:bodyPr/>
                    <a:lstStyle/>
                    <a:p>
                      <a:pPr>
                        <a:buNone/>
                      </a:pPr>
                      <a:r>
                        <a:rPr sz="1200"/>
                        <a:t>Case Intake</a:t>
                      </a:r>
                      <a:endParaRPr sz="1200"/>
                    </a:p>
                  </a:txBody>
                  <a:tcPr marL="91440" marR="91440" marT="45720" marB="45720" anchor="ctr"/>
                </a:tc>
                <a:tc>
                  <a:txBody>
                    <a:bodyPr/>
                    <a:lstStyle/>
                    <a:p>
                      <a:pPr>
                        <a:buNone/>
                      </a:pPr>
                      <a:r>
                        <a:rPr sz="1200"/>
                        <a:t>NCRP / SAHYOG reference, wallet input</a:t>
                      </a:r>
                    </a:p>
                  </a:txBody>
                  <a:tcPr marL="91440" marR="91440" marT="45720" marB="45720" anchor="ctr"/>
                </a:tc>
              </a:tr>
              <a:tr h="0">
                <a:tc>
                  <a:txBody>
                    <a:bodyPr/>
                    <a:lstStyle/>
                    <a:p>
                      <a:pPr>
                        <a:buNone/>
                      </a:pPr>
                      <a:r>
                        <a:rPr sz="1200"/>
                        <a:t>Chain APIs</a:t>
                      </a:r>
                      <a:endParaRPr sz="1200"/>
                    </a:p>
                  </a:txBody>
                  <a:tcPr marL="91440" marR="91440" marT="45720" marB="45720" anchor="ctr"/>
                </a:tc>
                <a:tc>
                  <a:txBody>
                    <a:bodyPr/>
                    <a:lstStyle/>
                    <a:p>
                      <a:pPr>
                        <a:buNone/>
                      </a:pPr>
                      <a:r>
                        <a:rPr sz="1200"/>
                        <a:t>Etherscan v2, Blockchain.info, TronGrid</a:t>
                      </a:r>
                      <a:endParaRPr sz="1200"/>
                    </a:p>
                  </a:txBody>
                  <a:tcPr marL="91440" marR="91440" marT="45720" marB="45720" anchor="ctr"/>
                </a:tc>
              </a:tr>
              <a:tr h="0">
                <a:tc>
                  <a:txBody>
                    <a:bodyPr/>
                    <a:lstStyle/>
                    <a:p>
                      <a:pPr>
                        <a:buNone/>
                      </a:pPr>
                      <a:r>
                        <a:rPr sz="1200"/>
                        <a:t>Evidence</a:t>
                      </a:r>
                      <a:endParaRPr sz="1200"/>
                    </a:p>
                  </a:txBody>
                  <a:tcPr marL="91440" marR="91440" marT="45720" marB="45720" anchor="ctr"/>
                </a:tc>
                <a:tc>
                  <a:txBody>
                    <a:bodyPr/>
                    <a:lstStyle/>
                    <a:p>
                      <a:pPr>
                        <a:buNone/>
                      </a:pPr>
                      <a:r>
                        <a:rPr sz="1200"/>
                        <a:t>Transactions, counterparties, JSON export</a:t>
                      </a:r>
                      <a:endParaRPr sz="1200"/>
                    </a:p>
                  </a:txBody>
                  <a:tcPr marL="91440" marR="91440" marT="45720" marB="45720" anchor="ctr"/>
                </a:tc>
              </a:tr>
              <a:tr h="0">
                <a:tc>
                  <a:txBody>
                    <a:bodyPr/>
                    <a:lstStyle/>
                    <a:p>
                      <a:pPr>
                        <a:buNone/>
                      </a:pPr>
                      <a:r>
                        <a:rPr sz="1200"/>
                        <a:t>Analysis</a:t>
                      </a:r>
                      <a:endParaRPr sz="1200"/>
                    </a:p>
                  </a:txBody>
                  <a:tcPr marL="91440" marR="91440" marT="45720" marB="45720" anchor="ctr"/>
                </a:tc>
                <a:tc>
                  <a:txBody>
                    <a:bodyPr/>
                    <a:lstStyle/>
                    <a:p>
                      <a:pPr>
                        <a:buNone/>
                      </a:pPr>
                      <a:r>
                        <a:rPr sz="1200"/>
                        <a:t>Risk rules, entity registry checks</a:t>
                      </a:r>
                      <a:endParaRPr sz="1200"/>
                    </a:p>
                  </a:txBody>
                  <a:tcPr marL="91440" marR="91440" marT="45720" marB="45720" anchor="ctr"/>
                </a:tc>
              </a:tr>
              <a:tr h="0">
                <a:tc>
                  <a:txBody>
                    <a:bodyPr/>
                    <a:lstStyle/>
                    <a:p>
                      <a:pPr>
                        <a:buNone/>
                      </a:pPr>
                      <a:r>
                        <a:rPr sz="1200"/>
                        <a:t>Attribution</a:t>
                      </a:r>
                      <a:endParaRPr sz="1200"/>
                    </a:p>
                  </a:txBody>
                  <a:tcPr marL="91440" marR="91440" marT="45720" marB="45720" anchor="ctr"/>
                </a:tc>
                <a:tc>
                  <a:txBody>
                    <a:bodyPr/>
                    <a:lstStyle/>
                    <a:p>
                      <a:r>
                        <a:t>Evidence status, confidence, analyst review</a:t>
                      </a:r>
                      <a:endParaRPr sz="1200"/>
                    </a:p>
                  </a:txBody>
                  <a:tcPr marL="91440" marR="91440" marT="45720" marB="45720"/>
                </a:tc>
              </a:tr>
            </a:tbl>
          </a:graphicData>
        </a:graphic>
      </p:graphicFrame>
      <p:sp>
        <p:nvSpPr>
          <p:cNvPr id="5" name="TextBox 4">
            <a:extLst xmlns:a="http://schemas.openxmlformats.org/drawingml/2006/main">
              <a:ext uri="{FF2B5EF4-FFF2-40B4-BE49-F238E27FC236}">
                <a16:creationId xmlns:a16="http://schemas.microsoft.com/office/drawing/2014/main" id="{87771DEE-CF9E-C921-9EE3-52666E28F38A}"/>
              </a:ext>
            </a:extLst>
          </p:cNvPr>
          <p:cNvSpPr>
            <a:spLocks xmlns:a="http://schemas.openxmlformats.org/drawingml/2006/main" noGrp="1"/>
          </p:cNvSpPr>
          <p:nvPr/>
        </p:nvSpPr>
        <p:spPr>
          <a:xfrm xmlns:a="http://schemas.openxmlformats.org/drawingml/2006/main">
            <a:off x="6327588" y="1202764"/>
            <a:ext cx="6096000" cy="5078313"/>
          </a:xfrm>
          <a:prstGeom xmlns:a="http://schemas.openxmlformats.org/drawingml/2006/main" prst="rect">
            <a:avLst/>
          </a:prstGeom>
          <a:noFill xmlns:a="http://schemas.openxmlformats.org/drawingml/2006/main"/>
        </p:spPr>
        <p:txBody>
          <a:bodyPr xmlns:a="http://schemas.openxmlformats.org/drawingml/2006/main" rot="0" spcFirstLastPara="0" vert="horz" wrap="square" lIns="91440" tIns="45720" rIns="91440" bIns="45720" anchor="t">
            <a:spAutoFit/>
          </a:bodyPr>
          <a:lstStyle xmlns:a="http://schemas.openxmlformats.org/drawingml/2006/main"/>
          <a:p xmlns:a="http://schemas.openxmlformats.org/drawingml/2006/main">
            <a:r>
              <a:rPr sz="1200" b="1">
                <a:latin typeface="Calibri"/>
                <a:ea typeface="Calibri"/>
                <a:cs typeface="Calibri"/>
              </a:rPr>
              <a:t>How the Current Prototype Works</a:t>
            </a:r>
            <a:endParaRPr sz="1200" b="1">
              <a:latin typeface="Calibri"/>
              <a:ea typeface="Calibri"/>
              <a:cs typeface="Calibri"/>
            </a:endParaRPr>
          </a:p>
          <a:p xmlns:a="http://schemas.openxmlformats.org/drawingml/2006/main">
            <a:r>
              <a:rPr sz="1200" b="1">
                <a:latin typeface="Calibri"/>
                <a:ea typeface="Calibri"/>
                <a:cs typeface="Calibri"/>
              </a:rPr>
              <a:t>Case Intake</a:t>
            </a:r>
            <a:endParaRPr sz="1200" b="1">
              <a:latin typeface="Calibri"/>
              <a:ea typeface="Calibri"/>
              <a:cs typeface="Calibri"/>
            </a:endParaRPr>
          </a:p>
          <a:p xmlns:a="http://schemas.openxmlformats.org/drawingml/2006/main">
            <a:pPr marL="228600" indent="-228600">
              <a:buFont typeface=""/>
              <a:buChar char="•"/>
            </a:pPr>
            <a:r>
              <a:rPr sz="1200">
                <a:latin typeface="Calibri"/>
                <a:ea typeface="Calibri"/>
                <a:cs typeface="Calibri"/>
              </a:rPr>
              <a:t>Records the complaint source, case ID, and reported wallet.</a:t>
            </a:r>
            <a:endParaRPr sz="1200">
              <a:latin typeface="Calibri"/>
              <a:ea typeface="Calibri"/>
              <a:cs typeface="Calibri"/>
            </a:endParaRPr>
          </a:p>
          <a:p xmlns:a="http://schemas.openxmlformats.org/drawingml/2006/main">
            <a:pPr marL="228600" indent="-228600">
              <a:buFont typeface=""/>
              <a:buChar char="•"/>
            </a:pPr>
            <a:r>
              <a:rPr sz="1200">
                <a:latin typeface="Calibri"/>
                <a:ea typeface="Calibri"/>
                <a:cs typeface="Calibri"/>
              </a:rPr>
              <a:t>Network Detection</a:t>
            </a:r>
            <a:endParaRPr sz="1200">
              <a:latin typeface="Calibri"/>
              <a:ea typeface="Calibri"/>
              <a:cs typeface="Calibri"/>
            </a:endParaRPr>
          </a:p>
          <a:p xmlns:a="http://schemas.openxmlformats.org/drawingml/2006/main">
            <a:pPr marL="228600" indent="-228600">
              <a:buFont typeface=""/>
              <a:buChar char="•"/>
            </a:pPr>
            <a:r>
              <a:rPr sz="1200">
                <a:latin typeface="Calibri"/>
                <a:ea typeface="Calibri"/>
                <a:cs typeface="Calibri"/>
              </a:rPr>
              <a:t>Identifies Ethereum, Bitcoin, Tron, Litecoin, Dogecoin, XRP, or Cardano format.</a:t>
            </a:r>
            <a:endParaRPr sz="1200">
              <a:latin typeface="Calibri"/>
              <a:ea typeface="Calibri"/>
              <a:cs typeface="Calibri"/>
            </a:endParaRPr>
          </a:p>
          <a:p xmlns:a="http://schemas.openxmlformats.org/drawingml/2006/main">
            <a:pPr marL="228600" indent="-228600">
              <a:buFont typeface=""/>
              <a:buChar char="•"/>
            </a:pPr>
            <a:r>
              <a:rPr sz="1200">
                <a:latin typeface="Calibri"/>
                <a:ea typeface="Calibri"/>
                <a:cs typeface="Calibri"/>
              </a:rPr>
              <a:t>Chain Adapters</a:t>
            </a:r>
            <a:endParaRPr sz="1200">
              <a:latin typeface="Calibri"/>
              <a:ea typeface="Calibri"/>
              <a:cs typeface="Calibri"/>
            </a:endParaRPr>
          </a:p>
          <a:p xmlns:a="http://schemas.openxmlformats.org/drawingml/2006/main">
            <a:pPr marL="228600" indent="-228600">
              <a:buFont typeface=""/>
              <a:buChar char="•"/>
            </a:pPr>
            <a:r>
              <a:rPr sz="1200">
                <a:latin typeface="Calibri"/>
                <a:ea typeface="Calibri"/>
                <a:cs typeface="Calibri"/>
              </a:rPr>
              <a:t>Queries Etherscan, Blockchain.info, or TronGrid when supported.</a:t>
            </a:r>
            <a:endParaRPr sz="1200">
              <a:latin typeface="Calibri"/>
              <a:ea typeface="Calibri"/>
              <a:cs typeface="Calibri"/>
            </a:endParaRPr>
          </a:p>
          <a:p xmlns:a="http://schemas.openxmlformats.org/drawingml/2006/main">
            <a:pPr marL="228600" indent="-228600">
              <a:buFont typeface=""/>
              <a:buChar char="•"/>
            </a:pPr>
            <a:r>
              <a:rPr sz="1200">
                <a:latin typeface="Calibri"/>
                <a:ea typeface="Calibri"/>
                <a:cs typeface="Calibri"/>
              </a:rPr>
              <a:t>Evidence Capture</a:t>
            </a:r>
          </a:p>
          <a:p xmlns:a="http://schemas.openxmlformats.org/drawingml/2006/main">
            <a:pPr marL="228600" indent="-228600">
              <a:buFont typeface=""/>
              <a:buChar char="•"/>
            </a:pPr>
            <a:r>
              <a:rPr sz="1200">
                <a:latin typeface="Calibri"/>
                <a:ea typeface="Calibri"/>
                <a:cs typeface="Calibri"/>
              </a:rPr>
              <a:t>Stores full transaction hashes, dates, values, and counterparties.</a:t>
            </a:r>
            <a:endParaRPr sz="1200">
              <a:latin typeface="Calibri"/>
              <a:ea typeface="Calibri"/>
              <a:cs typeface="Calibri"/>
            </a:endParaRPr>
          </a:p>
          <a:p xmlns:a="http://schemas.openxmlformats.org/drawingml/2006/main">
            <a:r>
              <a:rPr sz="1200" b="1">
                <a:latin typeface="Calibri"/>
                <a:ea typeface="Calibri"/>
                <a:cs typeface="Calibri"/>
              </a:rPr>
              <a:t>Fund-Flow Analysis</a:t>
            </a:r>
            <a:endParaRPr sz="1200" b="1">
              <a:latin typeface="Calibri"/>
              <a:ea typeface="Calibri"/>
              <a:cs typeface="Calibri"/>
            </a:endParaRPr>
          </a:p>
          <a:p xmlns:a="http://schemas.openxmlformats.org/drawingml/2006/main">
            <a:pPr marL="228600" indent="-228600">
              <a:buFont typeface=""/>
              <a:buChar char="•"/>
            </a:pPr>
            <a:r>
              <a:rPr sz="1200">
                <a:latin typeface="Calibri"/>
                <a:ea typeface="Calibri"/>
                <a:cs typeface="Calibri"/>
              </a:rPr>
              <a:t>Displays recent one-hop movement around the subject wallet.</a:t>
            </a:r>
            <a:endParaRPr sz="1200">
              <a:latin typeface="Calibri"/>
              <a:ea typeface="Calibri"/>
              <a:cs typeface="Calibri"/>
            </a:endParaRPr>
          </a:p>
          <a:p xmlns:a="http://schemas.openxmlformats.org/drawingml/2006/main">
            <a:pPr marL="228600" indent="-228600">
              <a:buFont typeface=""/>
              <a:buChar char="•"/>
            </a:pPr>
            <a:r>
              <a:rPr sz="1200">
                <a:latin typeface="Calibri"/>
                <a:ea typeface="Calibri"/>
                <a:cs typeface="Calibri"/>
              </a:rPr>
              <a:t>Risk Engine</a:t>
            </a:r>
            <a:endParaRPr sz="1200">
              <a:latin typeface="Calibri"/>
              <a:ea typeface="Calibri"/>
              <a:cs typeface="Calibri"/>
            </a:endParaRPr>
          </a:p>
          <a:p xmlns:a="http://schemas.openxmlformats.org/drawingml/2006/main">
            <a:pPr marL="228600" indent="-228600">
              <a:buFont typeface=""/>
              <a:buChar char="•"/>
            </a:pPr>
            <a:r>
              <a:rPr sz="1200">
                <a:latin typeface="Calibri"/>
                <a:ea typeface="Calibri"/>
                <a:cs typeface="Calibri"/>
              </a:rPr>
              <a:t>Uses activity, value tiers, linked cases, and registry matches.</a:t>
            </a:r>
            <a:endParaRPr sz="1200">
              <a:latin typeface="Calibri"/>
              <a:ea typeface="Calibri"/>
              <a:cs typeface="Calibri"/>
            </a:endParaRPr>
          </a:p>
          <a:p xmlns:a="http://schemas.openxmlformats.org/drawingml/2006/main">
            <a:pPr marL="228600" indent="-228600">
              <a:buFont typeface=""/>
              <a:buChar char="•"/>
            </a:pPr>
            <a:r>
              <a:rPr sz="1200">
                <a:latin typeface="Calibri"/>
                <a:ea typeface="Calibri"/>
                <a:cs typeface="Calibri"/>
              </a:rPr>
              <a:t>Attribution Guardrail</a:t>
            </a:r>
            <a:endParaRPr sz="1200">
              <a:latin typeface="Calibri"/>
              <a:ea typeface="Calibri"/>
              <a:cs typeface="Calibri"/>
            </a:endParaRPr>
          </a:p>
          <a:p xmlns:a="http://schemas.openxmlformats.org/drawingml/2006/main">
            <a:pPr marL="228600" indent="-228600">
              <a:buFont typeface=""/>
              <a:buChar char="•"/>
            </a:pPr>
            <a:r>
              <a:rPr sz="1200">
                <a:latin typeface="Calibri"/>
                <a:ea typeface="Calibri"/>
                <a:cs typeface="Calibri"/>
              </a:rPr>
              <a:t>Marks the VASP as inconclusive when evidence is insufficient.</a:t>
            </a:r>
            <a:endParaRPr sz="1200">
              <a:latin typeface="Calibri"/>
              <a:ea typeface="Calibri"/>
              <a:cs typeface="Calibri"/>
            </a:endParaRPr>
          </a:p>
          <a:p xmlns:a="http://schemas.openxmlformats.org/drawingml/2006/main">
            <a:r>
              <a:rPr sz="1200" b="1">
                <a:latin typeface="Calibri"/>
                <a:ea typeface="Calibri"/>
                <a:cs typeface="Calibri"/>
              </a:rPr>
              <a:t>Case Output</a:t>
            </a:r>
            <a:endParaRPr sz="1200" b="1">
              <a:latin typeface="Calibri"/>
              <a:ea typeface="Calibri"/>
              <a:cs typeface="Calibri"/>
            </a:endParaRPr>
          </a:p>
          <a:p xmlns:a="http://schemas.openxmlformats.org/drawingml/2006/main">
            <a:pPr marL="228600" indent="-228600">
              <a:buFont typeface=""/>
              <a:buChar char="•"/>
            </a:pPr>
            <a:r>
              <a:rPr sz="1200">
                <a:latin typeface="Calibri"/>
                <a:ea typeface="Calibri"/>
                <a:cs typeface="Calibri"/>
              </a:rPr>
              <a:t>Exports findings, attribution basis, actions, and limitations.</a:t>
            </a:r>
            <a:endParaRPr sz="1200">
              <a:latin typeface="Calibri"/>
              <a:ea typeface="Calibri"/>
              <a:cs typeface="Calibri"/>
            </a:endParaRPr>
          </a:p>
        </p:txBody>
      </p:sp>
      <p:pic>
        <p:nvPicPr>
          <p:cNvPr id="17420" name="Picture 7"/>
          <p:cNvPicPr>
            <a:picLocks xmlns:a="http://schemas.openxmlformats.org/drawingml/2006/main" noChangeAspect="1"/>
          </p:cNvPicPr>
          <p:nvPr/>
        </p:nvPicPr>
        <p:blipFill>
          <a:blip xmlns:r="http://schemas.openxmlformats.org/officeDocument/2006/relationships" xmlns:a="http://schemas.openxmlformats.org/drawingml/2006/main" r:embed="R3e3d5db2585748bc"/>
          <a:stretch xmlns:a="http://schemas.openxmlformats.org/drawingml/2006/main">
            <a:fillRect l="0" t="0" r="0" b="0"/>
          </a:stretch>
        </p:blipFill>
        <p:spPr>
          <a:xfrm xmlns:a="http://schemas.openxmlformats.org/drawingml/2006/main">
            <a:off x="440765" y="3432241"/>
            <a:ext cx="5378824" cy="2720282"/>
          </a:xfrm>
          <a:prstGeom xmlns:a="http://schemas.openxmlformats.org/drawingml/2006/main" prst="rect">
            <a:avLst/>
          </a:prstGeom>
        </p:spPr>
      </p:pic>
      <p:sp>
        <p:nvSpPr>
          <p:cNvPr id="13" name="Oval 12">
            <a:extLst xmlns:a="http://schemas.openxmlformats.org/drawingml/2006/main">
              <a:ext uri="{FF2B5EF4-FFF2-40B4-BE49-F238E27FC236}">
                <a16:creationId xmlns:a16="http://schemas.microsoft.com/office/drawing/2014/main" id="{DE30DFE1-DB4D-23DE-EBB2-1467C19942EE}"/>
              </a:ext>
            </a:extLst>
          </p:cNvPr>
          <p:cNvSpPr>
            <a:spLocks xmlns:a="http://schemas.openxmlformats.org/drawingml/2006/main" noGrp="1"/>
          </p:cNvSpPr>
          <p:nvPr/>
        </p:nvSpPr>
        <p:spPr>
          <a:xfrm xmlns:a="http://schemas.openxmlformats.org/drawingml/2006/main">
            <a:off x="1067" y="170070"/>
            <a:ext cx="1677680"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lIns="91440" tIns="45720" rIns="91440" bIns="45720" anchor="ctr"/>
          <a:lstStyle xmlns:a="http://schemas.openxmlformats.org/drawingml/2006/main"/>
          <a:p xmlns:a="http://schemas.openxmlformats.org/drawingml/2006/main">
            <a:pPr algn="ctr">
              <a:buNone/>
            </a:pPr>
            <a:r>
              <a:t>SafeByte</a:t>
            </a:r>
            <a:endParaRPr/>
          </a:p>
        </p:txBody>
      </p:sp>
    </p:spTree>
    <p:extLst>
      <p:ext uri="{BB962C8B-B14F-4D97-AF65-F5344CB8AC3E}">
        <p14:creationId xmlns:p14="http://schemas.microsoft.com/office/powerpoint/2010/main" val="120968497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988CAECD-73C3-4178-B14F-2BD79878178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rPr sz="3600" b="1">
                <a:latin typeface="Times New Roman"/>
                <a:ea typeface="Times New Roman"/>
                <a:cs typeface="Times New Roman"/>
              </a:rPr>
              <a:t>FEASIBILITY AND VIABILITY</a:t>
            </a:r>
          </a:p>
        </p:txBody>
      </p:sp>
      <p:sp>
        <p:nvSpPr>
          <p:cNvPr id="6" name="Slide Number Placeholder 5">
            <a:extLst xmlns:a="http://schemas.openxmlformats.org/drawingml/2006/main">
              <a:ext uri="{FF2B5EF4-FFF2-40B4-BE49-F238E27FC236}">
                <a16:creationId xmlns:a16="http://schemas.microsoft.com/office/drawing/2014/main" id="{E70A8389-BED4-44DE-9EE5-CC69672B39A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4</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B9666FCA-9ABC-441C-8E6C-5E551B510388}"/>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pic>
        <p:nvPicPr>
          <p:cNvPr id="17415" name="Picture 10"/>
          <p:cNvPicPr>
            <a:picLocks xmlns:a="http://schemas.openxmlformats.org/drawingml/2006/main" noChangeAspect="1"/>
          </p:cNvPicPr>
          <p:nvPr/>
        </p:nvPicPr>
        <p:blipFill>
          <a:blip xmlns:r="http://schemas.openxmlformats.org/officeDocument/2006/relationships" xmlns:a="http://schemas.openxmlformats.org/drawingml/2006/main" r:embed="R0a50b2c5b5bc4f24"/>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2" name="TextBox 1">
            <a:extLst xmlns:a="http://schemas.openxmlformats.org/drawingml/2006/main">
              <a:ext uri="{FF2B5EF4-FFF2-40B4-BE49-F238E27FC236}">
                <a16:creationId xmlns:a16="http://schemas.microsoft.com/office/drawing/2014/main" id="{2BE2EF35-A6E4-EF6E-5888-FBB5FC622EF0}"/>
              </a:ext>
            </a:extLst>
          </p:cNvPr>
          <p:cNvSpPr>
            <a:spLocks xmlns:a="http://schemas.openxmlformats.org/drawingml/2006/main" noGrp="1"/>
          </p:cNvSpPr>
          <p:nvPr/>
        </p:nvSpPr>
        <p:spPr>
          <a:xfrm xmlns:a="http://schemas.openxmlformats.org/drawingml/2006/main">
            <a:off x="724646" y="1561352"/>
            <a:ext cx="7366000" cy="4955203"/>
          </a:xfrm>
          <a:prstGeom xmlns:a="http://schemas.openxmlformats.org/drawingml/2006/main" prst="rect">
            <a:avLst/>
          </a:prstGeom>
          <a:noFill xmlns:a="http://schemas.openxmlformats.org/drawingml/2006/main"/>
        </p:spPr>
        <p:txBody>
          <a:bodyPr xmlns:a="http://schemas.openxmlformats.org/drawingml/2006/main" rot="0" spcFirstLastPara="0" vert="horz" wrap="square" lIns="91440" tIns="45720" rIns="91440" bIns="45720" anchor="t">
            <a:spAutoFit/>
          </a:bodyPr>
          <a:lstStyle xmlns:a="http://schemas.openxmlformats.org/drawingml/2006/main"/>
          <a:p xmlns:a="http://schemas.openxmlformats.org/drawingml/2006/main">
            <a:r>
              <a:rPr sz="1600" b="1">
                <a:latin typeface="Calibri"/>
                <a:ea typeface="Calibri"/>
                <a:cs typeface="Calibri"/>
              </a:rPr>
              <a:t>Technical Feasibility</a:t>
            </a:r>
            <a:endParaRPr sz="1600"/>
          </a:p>
          <a:p xmlns:a="http://schemas.openxmlformats.org/drawingml/2006/main">
            <a:pPr marL="228600" indent="-228600">
              <a:buFont typeface=""/>
              <a:buChar char="•"/>
            </a:pPr>
            <a:r>
              <a:rPr sz="1600">
                <a:latin typeface="Calibri"/>
                <a:ea typeface="Calibri"/>
                <a:cs typeface="Calibri"/>
              </a:rPr>
              <a:t>React and TypeScript prototype already runs.</a:t>
            </a:r>
          </a:p>
          <a:p xmlns:a="http://schemas.openxmlformats.org/drawingml/2006/main">
            <a:pPr marL="228600" indent="-228600">
              <a:buFont typeface=""/>
              <a:buChar char="•"/>
            </a:pPr>
            <a:r>
              <a:rPr sz="1600">
                <a:latin typeface="Calibri"/>
                <a:ea typeface="Calibri"/>
                <a:cs typeface="Calibri"/>
              </a:rPr>
              <a:t>Ethereum and Bitcoin transaction lookups are live.</a:t>
            </a:r>
          </a:p>
          <a:p xmlns:a="http://schemas.openxmlformats.org/drawingml/2006/main">
            <a:pPr marL="228600" indent="-228600">
              <a:buFont typeface=""/>
              <a:buChar char="•"/>
            </a:pPr>
            <a:r>
              <a:rPr sz="1600">
                <a:latin typeface="Calibri"/>
                <a:ea typeface="Calibri"/>
                <a:cs typeface="Calibri"/>
              </a:rPr>
              <a:t>Tron balance lookup is live.</a:t>
            </a:r>
          </a:p>
          <a:p xmlns:a="http://schemas.openxmlformats.org/drawingml/2006/main">
            <a:pPr marL="228600" indent="-228600">
              <a:buFont typeface=""/>
              <a:buChar char="•"/>
            </a:pPr>
            <a:r>
              <a:rPr sz="1600">
                <a:latin typeface="Calibri"/>
                <a:ea typeface="Calibri"/>
                <a:cs typeface="Calibri"/>
              </a:rPr>
              <a:t>Case-linked JSON evidence export works.</a:t>
            </a:r>
          </a:p>
          <a:p xmlns:a="http://schemas.openxmlformats.org/drawingml/2006/main">
            <a:pPr marL="228600" indent="-228600">
              <a:buFont typeface=""/>
              <a:buChar char="•"/>
            </a:pPr>
            <a:r>
              <a:t/>
            </a:r>
            <a:endParaRPr sz="1600">
              <a:latin typeface="Calibri"/>
              <a:ea typeface="Calibri"/>
              <a:cs typeface="Calibri"/>
            </a:endParaRPr>
          </a:p>
          <a:p xmlns:a="http://schemas.openxmlformats.org/drawingml/2006/main">
            <a:r>
              <a:rPr sz="1600" b="1">
                <a:latin typeface="Calibri"/>
                <a:ea typeface="Calibri"/>
                <a:cs typeface="Calibri"/>
              </a:rPr>
              <a:t>Intended Users</a:t>
            </a:r>
          </a:p>
          <a:p xmlns:a="http://schemas.openxmlformats.org/drawingml/2006/main">
            <a:r>
              <a:rPr sz="1600">
                <a:latin typeface="Calibri"/>
                <a:ea typeface="Calibri"/>
                <a:cs typeface="Calibri"/>
              </a:rPr>
              <a:t>I4C and cybercrime investigators</a:t>
            </a:r>
          </a:p>
          <a:p xmlns:a="http://schemas.openxmlformats.org/drawingml/2006/main">
            <a:pPr marL="228600" indent="-228600">
              <a:buFont typeface=""/>
              <a:buChar char="•"/>
            </a:pPr>
            <a:r>
              <a:rPr sz="1600">
                <a:latin typeface="Calibri"/>
                <a:ea typeface="Calibri"/>
                <a:cs typeface="Calibri"/>
              </a:rPr>
              <a:t>State and district cyber police units</a:t>
            </a:r>
          </a:p>
          <a:p xmlns:a="http://schemas.openxmlformats.org/drawingml/2006/main">
            <a:pPr marL="228600" indent="-228600">
              <a:buFont typeface=""/>
              <a:buChar char="•"/>
            </a:pPr>
            <a:r>
              <a:rPr sz="1600">
                <a:latin typeface="Calibri"/>
                <a:ea typeface="Calibri"/>
                <a:cs typeface="Calibri"/>
              </a:rPr>
              <a:t>VASP compliance and response teams</a:t>
            </a:r>
          </a:p>
          <a:p xmlns:a="http://schemas.openxmlformats.org/drawingml/2006/main">
            <a:pPr marL="228600" indent="-228600">
              <a:buFont typeface=""/>
              <a:buChar char="•"/>
            </a:pPr>
            <a:r>
              <a:rPr sz="1600">
                <a:latin typeface="Calibri"/>
                <a:ea typeface="Calibri"/>
                <a:cs typeface="Calibri"/>
              </a:rPr>
              <a:t>Digital forensic analysts</a:t>
            </a:r>
          </a:p>
          <a:p xmlns:a="http://schemas.openxmlformats.org/drawingml/2006/main">
            <a:pPr marL="228600" indent="-228600">
              <a:buFont typeface=""/>
              <a:buChar char="•"/>
            </a:pPr>
            <a:r>
              <a:rPr sz="1600">
                <a:latin typeface="Calibri"/>
                <a:ea typeface="Calibri"/>
                <a:cs typeface="Calibri"/>
              </a:rPr>
              <a:t/>
            </a:r>
          </a:p>
          <a:p xmlns:a="http://schemas.openxmlformats.org/drawingml/2006/main">
            <a:pPr marL="228600" indent="-228600">
              <a:buFont typeface=""/>
              <a:buChar char="•"/>
            </a:pPr>
            <a:r>
              <a:rPr sz="1600">
                <a:latin typeface="Calibri"/>
                <a:ea typeface="Calibri"/>
                <a:cs typeface="Calibri"/>
              </a:rPr>
              <a:t>Current Constraints</a:t>
            </a:r>
          </a:p>
          <a:p xmlns:a="http://schemas.openxmlformats.org/drawingml/2006/main">
            <a:pPr marL="228600" indent="-228600">
              <a:buFont typeface=""/>
              <a:buChar char="•"/>
            </a:pPr>
            <a:r>
              <a:t>Public APIs have rate and coverage limits.</a:t>
            </a:r>
            <a:endParaRPr sz="1600">
              <a:latin typeface="Calibri"/>
              <a:ea typeface="Calibri"/>
              <a:cs typeface="Calibri"/>
            </a:endParaRPr>
          </a:p>
          <a:p xmlns:a="http://schemas.openxmlformats.org/drawingml/2006/main">
            <a:r>
              <a:rPr sz="1600" b="1">
                <a:latin typeface="Calibri"/>
                <a:ea typeface="Calibri"/>
                <a:cs typeface="Calibri"/>
              </a:rPr>
              <a:t>The demonstration registry is small.</a:t>
            </a:r>
          </a:p>
          <a:p xmlns:a="http://schemas.openxmlformats.org/drawingml/2006/main">
            <a:pPr marL="228600" indent="-228600">
              <a:buFont typeface=""/>
              <a:buChar char="•"/>
            </a:pPr>
            <a:r>
              <a:rPr sz="1600">
                <a:latin typeface="Calibri"/>
                <a:ea typeface="Calibri"/>
                <a:cs typeface="Calibri"/>
              </a:rPr>
              <a:t>Public chain data does not prove ownership.</a:t>
            </a:r>
          </a:p>
          <a:p xmlns:a="http://schemas.openxmlformats.org/drawingml/2006/main">
            <a:pPr marL="228600" indent="-228600">
              <a:buFont typeface=""/>
              <a:buChar char="•"/>
            </a:pPr>
            <a:r>
              <a:rPr sz="1600">
                <a:latin typeface="Calibri"/>
                <a:ea typeface="Calibri"/>
                <a:cs typeface="Calibri"/>
              </a:rPr>
              <a:t>Analyst validation remains mandatory.</a:t>
            </a:r>
          </a:p>
        </p:txBody>
      </p:sp>
      <p:sp>
        <p:nvSpPr>
          <p:cNvPr id="3" name="TextBox 2">
            <a:extLst xmlns:a="http://schemas.openxmlformats.org/drawingml/2006/main">
              <a:ext uri="{FF2B5EF4-FFF2-40B4-BE49-F238E27FC236}">
                <a16:creationId xmlns:a16="http://schemas.microsoft.com/office/drawing/2014/main" id="{109B2034-EA8C-CE73-0047-660D7BE3DD14}"/>
              </a:ext>
            </a:extLst>
          </p:cNvPr>
          <p:cNvSpPr>
            <a:spLocks xmlns:a="http://schemas.openxmlformats.org/drawingml/2006/main" noGrp="1"/>
          </p:cNvSpPr>
          <p:nvPr/>
        </p:nvSpPr>
        <p:spPr>
          <a:xfrm xmlns:a="http://schemas.openxmlformats.org/drawingml/2006/main">
            <a:off x="6454588" y="1710765"/>
            <a:ext cx="6096000" cy="3570208"/>
          </a:xfrm>
          <a:prstGeom xmlns:a="http://schemas.openxmlformats.org/drawingml/2006/main" prst="rect">
            <a:avLst/>
          </a:prstGeom>
          <a:noFill xmlns:a="http://schemas.openxmlformats.org/drawingml/2006/main"/>
        </p:spPr>
        <p:txBody>
          <a:bodyPr xmlns:a="http://schemas.openxmlformats.org/drawingml/2006/main" rot="0" spcFirstLastPara="0" vert="horz" wrap="square" lIns="91440" tIns="45720" rIns="91440" bIns="45720" anchor="t">
            <a:spAutoFit/>
          </a:bodyPr>
          <a:lstStyle xmlns:a="http://schemas.openxmlformats.org/drawingml/2006/main"/>
          <a:p xmlns:a="http://schemas.openxmlformats.org/drawingml/2006/main">
            <a:pPr algn="l">
              <a:buNone/>
            </a:pPr>
            <a:r>
              <a:rPr sz="1600" b="1" i="0" u="none">
                <a:solidFill>
                  <a:srgbClr val="000000"/>
                </a:solidFill>
                <a:latin typeface="Calibri"/>
                <a:ea typeface="Calibri"/>
                <a:cs typeface="Calibri"/>
              </a:rPr>
              <a:t>Risk Handling</a:t>
            </a:r>
          </a:p>
          <a:p xmlns:a="http://schemas.openxmlformats.org/drawingml/2006/main">
            <a:pPr marL="228600" lvl="0" indent="-228600" algn="l">
              <a:buFont typeface=""/>
              <a:buChar char="•"/>
            </a:pPr>
            <a:r>
              <a:rPr sz="1600" b="0" i="0" u="none">
                <a:solidFill>
                  <a:srgbClr val="000000"/>
                </a:solidFill>
                <a:latin typeface="Calibri"/>
                <a:ea typeface="Calibri"/>
                <a:cs typeface="Calibri"/>
              </a:rPr>
              <a:t>No VASP match is shown without supporting data.</a:t>
            </a:r>
          </a:p>
          <a:p xmlns:a="http://schemas.openxmlformats.org/drawingml/2006/main">
            <a:pPr marL="228600" lvl="0" indent="-228600" algn="l">
              <a:buFont typeface=""/>
              <a:buChar char="•"/>
            </a:pPr>
            <a:r>
              <a:rPr sz="1600" b="0" i="0" u="none">
                <a:solidFill>
                  <a:srgbClr val="000000"/>
                </a:solidFill>
                <a:latin typeface="Calibri"/>
                <a:ea typeface="Calibri"/>
                <a:cs typeface="Calibri"/>
              </a:rPr>
              <a:t>Every export records sources and limitations.</a:t>
            </a:r>
          </a:p>
          <a:p xmlns:a="http://schemas.openxmlformats.org/drawingml/2006/main">
            <a:pPr marL="228600" lvl="0" indent="-228600" algn="l">
              <a:buFont typeface=""/>
              <a:buChar char="•"/>
            </a:pPr>
            <a:r>
              <a:rPr sz="1600" b="0" i="0" u="none">
                <a:solidFill>
                  <a:srgbClr val="000000"/>
                </a:solidFill>
                <a:latin typeface="Calibri"/>
                <a:ea typeface="Calibri"/>
                <a:cs typeface="Calibri"/>
              </a:rPr>
              <a:t>API failures produce a clear incomplete result.</a:t>
            </a:r>
          </a:p>
          <a:p xmlns:a="http://schemas.openxmlformats.org/drawingml/2006/main">
            <a:pPr marL="228600" indent="-228600">
              <a:buFont typeface=""/>
              <a:buChar char="•"/>
            </a:pPr>
            <a:r>
              <a:rPr sz="1600" b="0" i="0" u="none">
                <a:solidFill>
                  <a:srgbClr val="000000"/>
                </a:solidFill>
                <a:latin typeface="Calibri"/>
                <a:ea typeface="Calibri"/>
                <a:cs typeface="Calibri"/>
              </a:rPr>
              <a:t>Lawful action requires analyst confirmation.</a:t>
            </a:r>
            <a:endParaRPr sz="1600">
              <a:solidFill>
                <a:srgbClr val="000000"/>
              </a:solidFill>
              <a:latin typeface="Calibri"/>
              <a:ea typeface="Calibri"/>
              <a:cs typeface="Calibri"/>
            </a:endParaRPr>
          </a:p>
          <a:p xmlns:a="http://schemas.openxmlformats.org/drawingml/2006/main">
            <a:pPr marL="228600" lvl="0" indent="-228600" algn="l">
              <a:buFont typeface=""/>
              <a:buChar char="•"/>
            </a:pPr>
            <a:r>
              <a:rPr sz="1600" b="0" i="0">
                <a:solidFill>
                  <a:srgbClr val="000000"/>
                </a:solidFill>
                <a:latin typeface="Calibri"/>
                <a:ea typeface="Calibri"/>
                <a:cs typeface="Calibri"/>
              </a:rPr>
              <a:t/>
            </a:r>
            <a:endParaRPr/>
          </a:p>
          <a:p xmlns:a="http://schemas.openxmlformats.org/drawingml/2006/main">
            <a:pPr algn="l">
              <a:buNone/>
            </a:pPr>
            <a:r>
              <a:rPr sz="1600" b="1" i="0" u="none">
                <a:solidFill>
                  <a:srgbClr val="000000"/>
                </a:solidFill>
                <a:latin typeface="Calibri"/>
                <a:ea typeface="Calibri"/>
                <a:cs typeface="Calibri"/>
              </a:rPr>
              <a:t>Future Scope</a:t>
            </a:r>
          </a:p>
          <a:p xmlns:a="http://schemas.openxmlformats.org/drawingml/2006/main">
            <a:pPr algn="l">
              <a:buNone/>
            </a:pPr>
            <a:r>
              <a:rPr sz="1600" b="0" i="0" u="none">
                <a:solidFill>
                  <a:srgbClr val="000000"/>
                </a:solidFill>
                <a:latin typeface="Calibri"/>
                <a:ea typeface="Calibri"/>
                <a:cs typeface="Calibri"/>
              </a:rPr>
              <a:t>Two-hop and three-hop graph tracing</a:t>
            </a:r>
          </a:p>
          <a:p xmlns:a="http://schemas.openxmlformats.org/drawingml/2006/main">
            <a:pPr marL="228600" lvl="0" indent="-228600" algn="l">
              <a:buFont typeface=""/>
              <a:buChar char="•"/>
            </a:pPr>
            <a:r>
              <a:rPr sz="1600" b="0" i="0" u="none">
                <a:solidFill>
                  <a:srgbClr val="000000"/>
                </a:solidFill>
                <a:latin typeface="Calibri"/>
                <a:ea typeface="Calibri"/>
                <a:cs typeface="Calibri"/>
              </a:rPr>
              <a:t>VASP clusters, mixers, bridges, and deposit wallets</a:t>
            </a:r>
          </a:p>
          <a:p xmlns:a="http://schemas.openxmlformats.org/drawingml/2006/main">
            <a:pPr marL="228600" lvl="0" indent="-228600" algn="l">
              <a:buFont typeface=""/>
              <a:buChar char="•"/>
            </a:pPr>
            <a:r>
              <a:rPr sz="1600" b="0" i="0" u="none">
                <a:solidFill>
                  <a:srgbClr val="000000"/>
                </a:solidFill>
                <a:latin typeface="Calibri"/>
                <a:ea typeface="Calibri"/>
                <a:cs typeface="Calibri"/>
              </a:rPr>
              <a:t>BNB Chain, Polygon, Solana, and full Tron tracing</a:t>
            </a:r>
          </a:p>
          <a:p xmlns:a="http://schemas.openxmlformats.org/drawingml/2006/main">
            <a:pPr marL="228600" lvl="0" indent="-228600" algn="l">
              <a:buFont typeface=""/>
              <a:buChar char="•"/>
            </a:pPr>
            <a:r>
              <a:rPr sz="1600" b="0" i="0" u="none">
                <a:solidFill>
                  <a:srgbClr val="000000"/>
                </a:solidFill>
                <a:latin typeface="Calibri"/>
                <a:ea typeface="Calibri"/>
                <a:cs typeface="Calibri"/>
              </a:rPr>
              <a:t>Authenticated NCRP and SAHYOG integration</a:t>
            </a:r>
          </a:p>
          <a:p xmlns:a="http://schemas.openxmlformats.org/drawingml/2006/main">
            <a:pPr marL="228600" lvl="0" indent="-228600" algn="l">
              <a:buFont typeface=""/>
              <a:buChar char="•"/>
            </a:pPr>
            <a:r>
              <a:rPr sz="1600" b="0" i="0" u="none">
                <a:solidFill>
                  <a:srgbClr val="000000"/>
                </a:solidFill>
                <a:latin typeface="Calibri"/>
                <a:ea typeface="Calibri"/>
                <a:cs typeface="Calibri"/>
              </a:rPr>
              <a:t>Signed reports, audit logs, and access control</a:t>
            </a:r>
          </a:p>
          <a:p xmlns:a="http://schemas.openxmlformats.org/drawingml/2006/main">
            <a:pPr algn="l">
              <a:buNone/>
            </a:pPr>
            <a:r>
              <a:rPr sz="1600" b="0" i="0">
                <a:solidFill>
                  <a:srgbClr val="000000"/>
                </a:solidFill>
                <a:latin typeface="Calibri"/>
                <a:ea typeface="Calibri"/>
                <a:cs typeface="Calibri"/>
              </a:rPr>
              <a:t>AI Red Teamer as a separate supporting module</a:t>
            </a:r>
          </a:p>
          <a:p xmlns:a="http://schemas.openxmlformats.org/drawingml/2006/main">
            <a:pPr algn="ctr">
              <a:buNone/>
            </a:pPr>
            <a:r>
              <a:t>Licensed Windows and macOS investigation app</a:t>
            </a:r>
            <a:endParaRPr/>
          </a:p>
        </p:txBody>
      </p:sp>
      <p:sp>
        <p:nvSpPr>
          <p:cNvPr id="4" name="TextBox 3">
            <a:extLst xmlns:a="http://schemas.openxmlformats.org/drawingml/2006/main">
              <a:ext uri="{FF2B5EF4-FFF2-40B4-BE49-F238E27FC236}">
                <a16:creationId xmlns:a16="http://schemas.microsoft.com/office/drawing/2014/main" id="{E172290F-1ACB-E680-F4B7-B4D0146683EB}"/>
              </a:ext>
            </a:extLst>
          </p:cNvPr>
          <p:cNvSpPr>
            <a:spLocks xmlns:a="http://schemas.openxmlformats.org/drawingml/2006/main" noGrp="1"/>
          </p:cNvSpPr>
          <p:nvPr/>
        </p:nvSpPr>
        <p:spPr>
          <a:xfrm xmlns:a="http://schemas.openxmlformats.org/drawingml/2006/main">
            <a:off x="3406588" y="1060824"/>
            <a:ext cx="6096000" cy="677108"/>
          </a:xfrm>
          <a:prstGeom xmlns:a="http://schemas.openxmlformats.org/drawingml/2006/main" prst="rect">
            <a:avLst/>
          </a:prstGeom>
          <a:noFill xmlns:a="http://schemas.openxmlformats.org/drawingml/2006/main"/>
        </p:spPr>
        <p:txBody>
          <a:bodyPr xmlns:a="http://schemas.openxmlformats.org/drawingml/2006/main" rot="0" spcFirstLastPara="0" vert="horz" wrap="square" lIns="91440" tIns="45720" rIns="91440" bIns="45720" anchor="t">
            <a:spAutoFit/>
          </a:bodyPr>
          <a:lstStyle xmlns:a="http://schemas.openxmlformats.org/drawingml/2006/main"/>
          <a:p xmlns:a="http://schemas.openxmlformats.org/drawingml/2006/main">
            <a:r>
              <a:rPr sz="2000" b="1" i="0" u="none">
                <a:solidFill>
                  <a:srgbClr val="000000"/>
                </a:solidFill>
                <a:latin typeface="Calibri"/>
                <a:ea typeface="Calibri"/>
                <a:cs typeface="Calibri"/>
              </a:rPr>
              <a:t>Implementation Status and Future Scope</a:t>
            </a:r>
            <a:endParaRPr sz="2000" b="1"/>
          </a:p>
        </p:txBody>
      </p:sp>
      <p:sp>
        <p:nvSpPr>
          <p:cNvPr id="8" name="Oval 7">
            <a:extLst xmlns:a="http://schemas.openxmlformats.org/drawingml/2006/main">
              <a:ext uri="{FF2B5EF4-FFF2-40B4-BE49-F238E27FC236}">
                <a16:creationId xmlns:a16="http://schemas.microsoft.com/office/drawing/2014/main" id="{11843A47-1D4A-A397-3D26-2A5C415B70C5}"/>
              </a:ext>
            </a:extLst>
          </p:cNvPr>
          <p:cNvSpPr>
            <a:spLocks xmlns:a="http://schemas.openxmlformats.org/drawingml/2006/main" noGrp="1"/>
          </p:cNvSpPr>
          <p:nvPr/>
        </p:nvSpPr>
        <p:spPr>
          <a:xfrm xmlns:a="http://schemas.openxmlformats.org/drawingml/2006/main">
            <a:off x="1067" y="170070"/>
            <a:ext cx="1677680"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lIns="91440" tIns="45720" rIns="91440" bIns="45720" anchor="ctr"/>
          <a:lstStyle xmlns:a="http://schemas.openxmlformats.org/drawingml/2006/main"/>
          <a:p xmlns:a="http://schemas.openxmlformats.org/drawingml/2006/main">
            <a:pPr algn="ctr">
              <a:buNone/>
            </a:pPr>
            <a:r>
              <a:t>SafeByte</a:t>
            </a:r>
            <a:endParaRPr/>
          </a:p>
        </p:txBody>
      </p:sp>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B05EC2DA-9038-4327-A9F6-A66E1296191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rPr sz="3600" b="1">
                <a:latin typeface="Times New Roman"/>
                <a:ea typeface="Times New Roman"/>
                <a:cs typeface="Times New Roman"/>
              </a:rPr>
              <a:t>IMPACT AND BENEFITS</a:t>
            </a:r>
          </a:p>
        </p:txBody>
      </p:sp>
      <p:sp>
        <p:nvSpPr>
          <p:cNvPr id="6" name="Slide Number Placeholder 5">
            <a:extLst xmlns:a="http://schemas.openxmlformats.org/drawingml/2006/main">
              <a:ext uri="{FF2B5EF4-FFF2-40B4-BE49-F238E27FC236}">
                <a16:creationId xmlns:a16="http://schemas.microsoft.com/office/drawing/2014/main" id="{9CD84ED7-B7B7-429D-A424-DA1CE7440FF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5</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11D9FE04-E3E7-4974-834F-F6CE163E64E0}"/>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pic>
        <p:nvPicPr>
          <p:cNvPr id="17417" name="Picture 10"/>
          <p:cNvPicPr>
            <a:picLocks xmlns:a="http://schemas.openxmlformats.org/drawingml/2006/main" noChangeAspect="1"/>
          </p:cNvPicPr>
          <p:nvPr/>
        </p:nvPicPr>
        <p:blipFill>
          <a:blip xmlns:r="http://schemas.openxmlformats.org/officeDocument/2006/relationships" xmlns:a="http://schemas.openxmlformats.org/drawingml/2006/main" r:embed="R4a643bf916674f15"/>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pic>
        <p:nvPicPr>
          <p:cNvPr id="17418" name="Picture 1"/>
          <p:cNvPicPr>
            <a:picLocks xmlns:a="http://schemas.openxmlformats.org/drawingml/2006/main" noChangeAspect="1"/>
          </p:cNvPicPr>
          <p:nvPr/>
        </p:nvPicPr>
        <p:blipFill>
          <a:blip xmlns:r="http://schemas.openxmlformats.org/officeDocument/2006/relationships" xmlns:a="http://schemas.openxmlformats.org/drawingml/2006/main" r:embed="R73072008ba3b4d77"/>
          <a:stretch xmlns:a="http://schemas.openxmlformats.org/drawingml/2006/main">
            <a:fillRect l="0" t="0" r="0" b="0"/>
          </a:stretch>
        </p:blipFill>
        <p:spPr>
          <a:xfrm xmlns:a="http://schemas.openxmlformats.org/drawingml/2006/main">
            <a:off x="5798763" y="1098455"/>
            <a:ext cx="4105650" cy="1680324"/>
          </a:xfrm>
          <a:prstGeom xmlns:a="http://schemas.openxmlformats.org/drawingml/2006/main" prst="rect">
            <a:avLst/>
          </a:prstGeom>
        </p:spPr>
      </p:pic>
      <p:sp>
        <p:nvSpPr>
          <p:cNvPr id="3" name="TextBox 2">
            <a:extLst xmlns:a="http://schemas.openxmlformats.org/drawingml/2006/main">
              <a:ext uri="{FF2B5EF4-FFF2-40B4-BE49-F238E27FC236}">
                <a16:creationId xmlns:a16="http://schemas.microsoft.com/office/drawing/2014/main" id="{314D2E49-6ADB-4209-1E76-6F6456C965FD}"/>
              </a:ext>
            </a:extLst>
          </p:cNvPr>
          <p:cNvSpPr>
            <a:spLocks xmlns:a="http://schemas.openxmlformats.org/drawingml/2006/main" noGrp="1"/>
          </p:cNvSpPr>
          <p:nvPr/>
        </p:nvSpPr>
        <p:spPr>
          <a:xfrm xmlns:a="http://schemas.openxmlformats.org/drawingml/2006/main">
            <a:off x="612588" y="1337236"/>
            <a:ext cx="6096000" cy="2677656"/>
          </a:xfrm>
          <a:prstGeom xmlns:a="http://schemas.openxmlformats.org/drawingml/2006/main" prst="rect">
            <a:avLst/>
          </a:prstGeom>
          <a:noFill xmlns:a="http://schemas.openxmlformats.org/drawingml/2006/main"/>
        </p:spPr>
        <p:txBody>
          <a:bodyPr xmlns:a="http://schemas.openxmlformats.org/drawingml/2006/main" rot="0" spcFirstLastPara="0" vert="horz" wrap="square" lIns="91440" tIns="45720" rIns="91440" bIns="45720" anchor="t">
            <a:spAutoFit/>
          </a:bodyPr>
          <a:lstStyle xmlns:a="http://schemas.openxmlformats.org/drawingml/2006/main"/>
          <a:p xmlns:a="http://schemas.openxmlformats.org/drawingml/2006/main">
            <a:r>
              <a:rPr sz="1200" b="1">
                <a:latin typeface="Calibri"/>
                <a:ea typeface="Calibri"/>
                <a:cs typeface="Calibri"/>
              </a:rPr>
              <a:t>Investigation Benefits</a:t>
            </a:r>
          </a:p>
          <a:p xmlns:a="http://schemas.openxmlformats.org/drawingml/2006/main">
            <a:pPr marL="228600" indent="-228600">
              <a:buFont typeface=""/>
              <a:buChar char="•"/>
            </a:pPr>
            <a:r>
              <a:rPr sz="1200">
                <a:latin typeface="Calibri"/>
                <a:ea typeface="Calibri"/>
                <a:cs typeface="Calibri"/>
              </a:rPr>
              <a:t>Connects the wallet to its complaint record</a:t>
            </a:r>
            <a:endParaRPr sz="1200">
              <a:latin typeface="Calibri"/>
              <a:ea typeface="Calibri"/>
              <a:cs typeface="Calibri"/>
            </a:endParaRPr>
          </a:p>
          <a:p xmlns:a="http://schemas.openxmlformats.org/drawingml/2006/main">
            <a:pPr marL="228600" indent="-228600">
              <a:buFont typeface=""/>
              <a:buChar char="•"/>
            </a:pPr>
            <a:r>
              <a:rPr sz="1200">
                <a:latin typeface="Calibri"/>
                <a:ea typeface="Calibri"/>
                <a:cs typeface="Calibri"/>
              </a:rPr>
              <a:t>Reduces the first manual review workload</a:t>
            </a:r>
            <a:endParaRPr sz="1200">
              <a:latin typeface="Calibri"/>
              <a:ea typeface="Calibri"/>
              <a:cs typeface="Calibri"/>
            </a:endParaRPr>
          </a:p>
          <a:p xmlns:a="http://schemas.openxmlformats.org/drawingml/2006/main">
            <a:pPr marL="228600" indent="-228600">
              <a:buFont typeface=""/>
              <a:buChar char="•"/>
            </a:pPr>
            <a:r>
              <a:rPr sz="1200">
                <a:latin typeface="Calibri"/>
                <a:ea typeface="Calibri"/>
                <a:cs typeface="Calibri"/>
              </a:rPr>
              <a:t>Preserves transaction identifiers and timestamps</a:t>
            </a:r>
            <a:endParaRPr sz="1200">
              <a:latin typeface="Calibri"/>
              <a:ea typeface="Calibri"/>
              <a:cs typeface="Calibri"/>
            </a:endParaRPr>
          </a:p>
          <a:p xmlns:a="http://schemas.openxmlformats.org/drawingml/2006/main">
            <a:pPr marL="228600" indent="-228600">
              <a:buFont typeface=""/>
              <a:buChar char="•"/>
            </a:pPr>
            <a:r>
              <a:rPr sz="1200">
                <a:latin typeface="Calibri"/>
                <a:ea typeface="Calibri"/>
                <a:cs typeface="Calibri"/>
              </a:rPr>
              <a:t>Shows the reason behind each risk finding</a:t>
            </a:r>
            <a:endParaRPr sz="1200">
              <a:latin typeface="Calibri"/>
              <a:ea typeface="Calibri"/>
              <a:cs typeface="Calibri"/>
            </a:endParaRPr>
          </a:p>
          <a:p xmlns:a="http://schemas.openxmlformats.org/drawingml/2006/main">
            <a:pPr marL="228600" indent="-228600">
              <a:buFont typeface=""/>
              <a:buChar char="•"/>
            </a:pPr>
            <a:r>
              <a:rPr sz="1200">
                <a:latin typeface="Calibri"/>
                <a:ea typeface="Calibri"/>
                <a:cs typeface="Calibri"/>
              </a:rPr>
              <a:t>Separates verified matches from assumptions</a:t>
            </a:r>
            <a:endParaRPr sz="1200">
              <a:latin typeface="Calibri"/>
              <a:ea typeface="Calibri"/>
              <a:cs typeface="Calibri"/>
            </a:endParaRPr>
          </a:p>
          <a:p xmlns:a="http://schemas.openxmlformats.org/drawingml/2006/main">
            <a:r>
              <a:rPr sz="1200" b="1">
                <a:latin typeface="Calibri"/>
                <a:ea typeface="Calibri"/>
                <a:cs typeface="Calibri"/>
              </a:rPr>
              <a:t/>
            </a:r>
          </a:p>
          <a:p xmlns:a="http://schemas.openxmlformats.org/drawingml/2006/main">
            <a:r>
              <a:rPr sz="1200">
                <a:latin typeface="Calibri"/>
                <a:ea typeface="Calibri"/>
                <a:cs typeface="Calibri"/>
              </a:rPr>
              <a:t>Current Value</a:t>
            </a:r>
            <a:endParaRPr sz="1200">
              <a:latin typeface="Calibri"/>
              <a:ea typeface="Calibri"/>
              <a:cs typeface="Calibri"/>
            </a:endParaRPr>
          </a:p>
          <a:p xmlns:a="http://schemas.openxmlformats.org/drawingml/2006/main">
            <a:pPr marL="228600" indent="-228600">
              <a:buFont typeface=""/>
              <a:buChar char="•"/>
            </a:pPr>
            <a:r>
              <a:rPr sz="1200">
                <a:latin typeface="Calibri"/>
                <a:ea typeface="Calibri"/>
                <a:cs typeface="Calibri"/>
              </a:rPr>
              <a:t>Working browser-based intake and wallet trace</a:t>
            </a:r>
            <a:endParaRPr sz="1200">
              <a:latin typeface="Calibri"/>
              <a:ea typeface="Calibri"/>
              <a:cs typeface="Calibri"/>
            </a:endParaRPr>
          </a:p>
          <a:p xmlns:a="http://schemas.openxmlformats.org/drawingml/2006/main">
            <a:pPr marL="228600" indent="-228600">
              <a:buFont typeface=""/>
              <a:buChar char="•"/>
            </a:pPr>
            <a:r>
              <a:rPr sz="1200">
                <a:latin typeface="Calibri"/>
                <a:ea typeface="Calibri"/>
                <a:cs typeface="Calibri"/>
              </a:rPr>
              <a:t>Live evidence from three public chain sources</a:t>
            </a:r>
            <a:endParaRPr sz="1200">
              <a:latin typeface="Calibri"/>
              <a:ea typeface="Calibri"/>
              <a:cs typeface="Calibri"/>
            </a:endParaRPr>
          </a:p>
          <a:p xmlns:a="http://schemas.openxmlformats.org/drawingml/2006/main">
            <a:pPr marL="228600" indent="-228600">
              <a:buFont typeface=""/>
              <a:buChar char="•"/>
            </a:pPr>
            <a:r>
              <a:rPr sz="1200">
                <a:latin typeface="Calibri"/>
                <a:ea typeface="Calibri"/>
                <a:cs typeface="Calibri"/>
              </a:rPr>
              <a:t>Recent counterparty fund-flow view</a:t>
            </a:r>
            <a:endParaRPr sz="1200">
              <a:latin typeface="Calibri"/>
              <a:ea typeface="Calibri"/>
              <a:cs typeface="Calibri"/>
            </a:endParaRPr>
          </a:p>
          <a:p xmlns:a="http://schemas.openxmlformats.org/drawingml/2006/main">
            <a:pPr marL="228600" indent="-228600">
              <a:buFont typeface=""/>
              <a:buChar char="•"/>
            </a:pPr>
            <a:r>
              <a:rPr sz="1200">
                <a:latin typeface="Calibri"/>
                <a:ea typeface="Calibri"/>
                <a:cs typeface="Calibri"/>
              </a:rPr>
              <a:t>High-risk registry check and risk score</a:t>
            </a:r>
            <a:endParaRPr sz="1200">
              <a:latin typeface="Calibri"/>
              <a:ea typeface="Calibri"/>
              <a:cs typeface="Calibri"/>
            </a:endParaRPr>
          </a:p>
          <a:p xmlns:a="http://schemas.openxmlformats.org/drawingml/2006/main">
            <a:r>
              <a:rPr sz="1200">
                <a:latin typeface="Calibri"/>
                <a:ea typeface="Calibri"/>
                <a:cs typeface="Calibri"/>
              </a:rPr>
              <a:t>Downloadable investigation evidence package</a:t>
            </a:r>
            <a:endParaRPr sz="1200">
              <a:latin typeface="Calibri"/>
              <a:ea typeface="Calibri"/>
              <a:cs typeface="Calibri"/>
            </a:endParaRPr>
          </a:p>
        </p:txBody>
      </p:sp>
      <p:sp>
        <p:nvSpPr>
          <p:cNvPr id="5" name="TextBox 4">
            <a:extLst xmlns:a="http://schemas.openxmlformats.org/drawingml/2006/main">
              <a:ext uri="{FF2B5EF4-FFF2-40B4-BE49-F238E27FC236}">
                <a16:creationId xmlns:a16="http://schemas.microsoft.com/office/drawing/2014/main" id="{562A7401-4B11-57FA-02E8-AC9ED027DBFF}"/>
              </a:ext>
            </a:extLst>
          </p:cNvPr>
          <p:cNvSpPr>
            <a:spLocks xmlns:a="http://schemas.openxmlformats.org/drawingml/2006/main" noGrp="1"/>
          </p:cNvSpPr>
          <p:nvPr/>
        </p:nvSpPr>
        <p:spPr>
          <a:xfrm xmlns:a="http://schemas.openxmlformats.org/drawingml/2006/main">
            <a:off x="702235" y="4250764"/>
            <a:ext cx="6096000" cy="1569660"/>
          </a:xfrm>
          <a:prstGeom xmlns:a="http://schemas.openxmlformats.org/drawingml/2006/main" prst="rect">
            <a:avLst/>
          </a:prstGeom>
          <a:noFill xmlns:a="http://schemas.openxmlformats.org/drawingml/2006/main"/>
        </p:spPr>
        <p:txBody>
          <a:bodyPr xmlns:a="http://schemas.openxmlformats.org/drawingml/2006/main" rot="0" spcFirstLastPara="0" vert="horz" wrap="square" lIns="91440" tIns="45720" rIns="91440" bIns="45720" anchor="t">
            <a:spAutoFit/>
          </a:bodyPr>
          <a:lstStyle xmlns:a="http://schemas.openxmlformats.org/drawingml/2006/main"/>
          <a:p xmlns:a="http://schemas.openxmlformats.org/drawingml/2006/main">
            <a:r>
              <a:rPr sz="1200" b="1">
                <a:latin typeface="Calibri"/>
                <a:ea typeface="Calibri"/>
                <a:cs typeface="Calibri"/>
              </a:rPr>
              <a:t>Who Can Use It</a:t>
            </a:r>
          </a:p>
          <a:p xmlns:a="http://schemas.openxmlformats.org/drawingml/2006/main">
            <a:r>
              <a:rPr sz="1200" b="1">
                <a:latin typeface="Calibri"/>
                <a:ea typeface="Calibri"/>
                <a:cs typeface="Calibri"/>
              </a:rPr>
              <a:t>Primary users</a:t>
            </a:r>
          </a:p>
          <a:p xmlns:a="http://schemas.openxmlformats.org/drawingml/2006/main">
            <a:pPr marL="228600" indent="-228600">
              <a:buFont typeface=""/>
              <a:buChar char="•"/>
            </a:pPr>
            <a:r>
              <a:rPr sz="1200">
                <a:latin typeface="Calibri"/>
                <a:ea typeface="Calibri"/>
                <a:cs typeface="Calibri"/>
              </a:rPr>
              <a:t>I4C investigation teams</a:t>
            </a:r>
            <a:endParaRPr sz="1200">
              <a:latin typeface="Calibri"/>
              <a:ea typeface="Calibri"/>
              <a:cs typeface="Calibri"/>
            </a:endParaRPr>
          </a:p>
          <a:p xmlns:a="http://schemas.openxmlformats.org/drawingml/2006/main">
            <a:pPr marL="228600" indent="-228600">
              <a:buFont typeface=""/>
              <a:buChar char="•"/>
            </a:pPr>
            <a:r>
              <a:rPr sz="1200">
                <a:latin typeface="Calibri"/>
                <a:ea typeface="Calibri"/>
                <a:cs typeface="Calibri"/>
              </a:rPr>
              <a:t>Cybercrime police units</a:t>
            </a:r>
            <a:endParaRPr sz="1200">
              <a:latin typeface="Calibri"/>
              <a:ea typeface="Calibri"/>
              <a:cs typeface="Calibri"/>
            </a:endParaRPr>
          </a:p>
          <a:p xmlns:a="http://schemas.openxmlformats.org/drawingml/2006/main">
            <a:pPr marL="228600" indent="-228600">
              <a:buFont typeface=""/>
              <a:buChar char="•"/>
            </a:pPr>
            <a:r>
              <a:rPr sz="1200">
                <a:latin typeface="Calibri"/>
                <a:ea typeface="Calibri"/>
                <a:cs typeface="Calibri"/>
              </a:rPr>
              <a:t>Digital forensic laboratories</a:t>
            </a:r>
            <a:endParaRPr sz="1200">
              <a:latin typeface="Calibri"/>
              <a:ea typeface="Calibri"/>
              <a:cs typeface="Calibri"/>
            </a:endParaRPr>
          </a:p>
          <a:p xmlns:a="http://schemas.openxmlformats.org/drawingml/2006/main">
            <a:pPr marL="228600" indent="-228600">
              <a:buFont typeface=""/>
              <a:buChar char="•"/>
            </a:pPr>
            <a:r>
              <a:rPr sz="1200">
                <a:latin typeface="Calibri"/>
                <a:ea typeface="Calibri"/>
                <a:cs typeface="Calibri"/>
              </a:rPr>
              <a:t>VASP compliance teams</a:t>
            </a:r>
            <a:endParaRPr sz="1200">
              <a:latin typeface="Calibri"/>
              <a:ea typeface="Calibri"/>
              <a:cs typeface="Calibri"/>
            </a:endParaRPr>
          </a:p>
          <a:p xmlns:a="http://schemas.openxmlformats.org/drawingml/2006/main">
            <a:pPr marL="228600" indent="-228600">
              <a:buFont typeface=""/>
              <a:buChar char="•"/>
            </a:pPr>
            <a:r>
              <a:rPr sz="1200">
                <a:latin typeface="Calibri"/>
                <a:ea typeface="Calibri"/>
                <a:cs typeface="Calibri"/>
              </a:rPr>
              <a:t>Incident response analysts</a:t>
            </a:r>
            <a:endParaRPr sz="1200">
              <a:latin typeface="Calibri"/>
              <a:ea typeface="Calibri"/>
              <a:cs typeface="Calibri"/>
            </a:endParaRPr>
          </a:p>
        </p:txBody>
      </p:sp>
      <p:pic>
        <p:nvPicPr>
          <p:cNvPr id="17421" name="Picture 7"/>
          <p:cNvPicPr>
            <a:picLocks xmlns:a="http://schemas.openxmlformats.org/drawingml/2006/main" noChangeAspect="1"/>
          </p:cNvPicPr>
          <p:nvPr/>
        </p:nvPicPr>
        <p:blipFill>
          <a:blip xmlns:r="http://schemas.openxmlformats.org/officeDocument/2006/relationships" xmlns:a="http://schemas.openxmlformats.org/drawingml/2006/main" r:embed="R61b0fb92e1244b7c"/>
          <a:stretch xmlns:a="http://schemas.openxmlformats.org/drawingml/2006/main">
            <a:fillRect l="0" t="0" r="0" b="0"/>
          </a:stretch>
        </p:blipFill>
        <p:spPr>
          <a:xfrm xmlns:a="http://schemas.openxmlformats.org/drawingml/2006/main">
            <a:off x="4811059" y="3022771"/>
            <a:ext cx="6364941" cy="3240401"/>
          </a:xfrm>
          <a:prstGeom xmlns:a="http://schemas.openxmlformats.org/drawingml/2006/main" prst="rect">
            <a:avLst/>
          </a:prstGeom>
        </p:spPr>
      </p:pic>
      <p:sp>
        <p:nvSpPr>
          <p:cNvPr id="13" name="Oval 12">
            <a:extLst xmlns:a="http://schemas.openxmlformats.org/drawingml/2006/main">
              <a:ext uri="{FF2B5EF4-FFF2-40B4-BE49-F238E27FC236}">
                <a16:creationId xmlns:a16="http://schemas.microsoft.com/office/drawing/2014/main" id="{D81FA58E-8950-E1F5-F607-FEB18BCB3FA6}"/>
              </a:ext>
            </a:extLst>
          </p:cNvPr>
          <p:cNvSpPr>
            <a:spLocks xmlns:a="http://schemas.openxmlformats.org/drawingml/2006/main" noGrp="1"/>
          </p:cNvSpPr>
          <p:nvPr/>
        </p:nvSpPr>
        <p:spPr>
          <a:xfrm xmlns:a="http://schemas.openxmlformats.org/drawingml/2006/main">
            <a:off x="1067" y="170070"/>
            <a:ext cx="1677680"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lIns="91440" tIns="45720" rIns="91440" bIns="45720" anchor="ctr"/>
          <a:lstStyle xmlns:a="http://schemas.openxmlformats.org/drawingml/2006/main"/>
          <a:p xmlns:a="http://schemas.openxmlformats.org/drawingml/2006/main">
            <a:pPr algn="ctr">
              <a:buNone/>
            </a:pPr>
            <a:r>
              <a:t>SafeByte</a:t>
            </a:r>
            <a:endParaRPr/>
          </a:p>
        </p:txBody>
      </p:sp>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28FE316A-070F-414A-A090-3AFF307FF04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rPr sz="3600" b="1">
                <a:latin typeface="Times New Roman"/>
                <a:ea typeface="Times New Roman"/>
                <a:cs typeface="Times New Roman"/>
              </a:rPr>
              <a:t>RESEARCH AND REFERENCES</a:t>
            </a:r>
          </a:p>
        </p:txBody>
      </p:sp>
      <p:sp>
        <p:nvSpPr>
          <p:cNvPr id="6" name="Slide Number Placeholder 5">
            <a:extLst xmlns:a="http://schemas.openxmlformats.org/drawingml/2006/main">
              <a:ext uri="{FF2B5EF4-FFF2-40B4-BE49-F238E27FC236}">
                <a16:creationId xmlns:a16="http://schemas.microsoft.com/office/drawing/2014/main" id="{14ED711A-C803-4D0B-837D-F28A8A20E05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6</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E447E86B-33A8-403F-8AC9-F9EE5F636C96}"/>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pic>
        <p:nvPicPr>
          <p:cNvPr id="17416" name="Picture 11"/>
          <p:cNvPicPr>
            <a:picLocks xmlns:a="http://schemas.openxmlformats.org/drawingml/2006/main" noChangeAspect="1"/>
          </p:cNvPicPr>
          <p:nvPr/>
        </p:nvPicPr>
        <p:blipFill>
          <a:blip xmlns:r="http://schemas.openxmlformats.org/officeDocument/2006/relationships" xmlns:a="http://schemas.openxmlformats.org/drawingml/2006/main" r:embed="R23e16ebd9ec84a20"/>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2" name="TextBox 1">
            <a:extLst xmlns:a="http://schemas.openxmlformats.org/drawingml/2006/main">
              <a:ext uri="{FF2B5EF4-FFF2-40B4-BE49-F238E27FC236}">
                <a16:creationId xmlns:a16="http://schemas.microsoft.com/office/drawing/2014/main" id="{8A89DE5C-C255-BFA5-DB48-619E840B2CEA}"/>
              </a:ext>
            </a:extLst>
          </p:cNvPr>
          <p:cNvSpPr>
            <a:spLocks xmlns:a="http://schemas.openxmlformats.org/drawingml/2006/main" noGrp="1"/>
          </p:cNvSpPr>
          <p:nvPr/>
        </p:nvSpPr>
        <p:spPr>
          <a:xfrm xmlns:a="http://schemas.openxmlformats.org/drawingml/2006/main">
            <a:off x="418353" y="1113119"/>
            <a:ext cx="4572000" cy="5447645"/>
          </a:xfrm>
          <a:prstGeom xmlns:a="http://schemas.openxmlformats.org/drawingml/2006/main" prst="rect">
            <a:avLst/>
          </a:prstGeom>
          <a:noFill xmlns:a="http://schemas.openxmlformats.org/drawingml/2006/main"/>
        </p:spPr>
        <p:txBody>
          <a:bodyPr xmlns:a="http://schemas.openxmlformats.org/drawingml/2006/main" rot="0" spcFirstLastPara="0" vert="horz" wrap="square" lIns="47625" tIns="38100" rIns="47625" bIns="38100" anchor="t">
            <a:normAutofit fontScale="100000"/>
          </a:bodyPr>
          <a:lstStyle xmlns:a="http://schemas.openxmlformats.org/drawingml/2006/main"/>
          <a:p xmlns:a="http://schemas.openxmlformats.org/drawingml/2006/main">
            <a:pPr algn="l">
              <a:spcAft>
                <a:spcPts val="260"/>
              </a:spcAft>
            </a:pPr>
            <a:r>
              <a:rPr sz="1300" b="1">
                <a:solidFill>
                  <a:srgbClr val="111111"/>
                </a:solidFill>
                <a:latin typeface="Calibri"/>
                <a:ea typeface="Calibri"/>
                <a:cs typeface="Calibri"/>
              </a:rPr>
              <a:t>Research and References</a:t>
            </a:r>
          </a:p>
          <a:p xmlns:a="http://schemas.openxmlformats.org/drawingml/2006/main">
            <a:pPr algn="l">
              <a:spcAft>
                <a:spcPts val="420"/>
              </a:spcAft>
            </a:pPr>
            <a:r>
              <a:rPr sz="1050" b="0">
                <a:solidFill>
                  <a:srgbClr val="111111"/>
                </a:solidFill>
                <a:latin typeface="Calibri"/>
                <a:ea typeface="Calibri"/>
                <a:cs typeface="Calibri"/>
              </a:rPr>
              <a:t>The prototype uses the official SIH scope and public blockchain data.</a:t>
            </a:r>
          </a:p>
          <a:p xmlns:a="http://schemas.openxmlformats.org/drawingml/2006/main">
            <a:pPr algn="l">
              <a:spcAft>
                <a:spcPts val="100"/>
              </a:spcAft>
            </a:pPr>
            <a:r>
              <a:rPr sz="1150" b="1">
                <a:solidFill>
                  <a:srgbClr val="111111"/>
                </a:solidFill>
                <a:latin typeface="Calibri"/>
                <a:ea typeface="Calibri"/>
                <a:cs typeface="Calibri"/>
              </a:rPr>
              <a:t>PRIMARY SOURCES</a:t>
            </a:r>
          </a:p>
          <a:p xmlns:a="http://schemas.openxmlformats.org/drawingml/2006/main">
            <a:pPr algn="l">
              <a:spcAft>
                <a:spcPts val="120"/>
              </a:spcAft>
            </a:pPr>
            <a:r>
              <a:rPr sz="1050" b="0">
                <a:solidFill>
                  <a:srgbClr val="111111"/>
                </a:solidFill>
                <a:latin typeface="Calibri"/>
                <a:ea typeface="Calibri"/>
                <a:cs typeface="Calibri"/>
              </a:rPr>
              <a:t>SIH 2026 problem statement SIH26182</a:t>
            </a:r>
          </a:p>
          <a:p xmlns:a="http://schemas.openxmlformats.org/drawingml/2006/main">
            <a:pPr algn="l">
              <a:spcAft>
                <a:spcPts val="120"/>
              </a:spcAft>
            </a:pPr>
            <a:r>
              <a:rPr sz="1050" b="0">
                <a:solidFill>
                  <a:srgbClr val="111111"/>
                </a:solidFill>
                <a:latin typeface="Calibri"/>
                <a:ea typeface="Calibri"/>
                <a:cs typeface="Calibri"/>
              </a:rPr>
              <a:t>Etherscan v2, Blockchain.info, and TronGrid APIs</a:t>
            </a:r>
          </a:p>
          <a:p xmlns:a="http://schemas.openxmlformats.org/drawingml/2006/main">
            <a:pPr algn="l">
              <a:spcAft>
                <a:spcPts val="420"/>
              </a:spcAft>
            </a:pPr>
            <a:r>
              <a:rPr sz="1050" b="0">
                <a:solidFill>
                  <a:srgbClr val="111111"/>
                </a:solidFill>
                <a:latin typeface="Calibri"/>
                <a:ea typeface="Calibri"/>
                <a:cs typeface="Calibri"/>
              </a:rPr>
              <a:t>OFAC sanctions data</a:t>
            </a:r>
          </a:p>
          <a:p xmlns:a="http://schemas.openxmlformats.org/drawingml/2006/main">
            <a:pPr algn="l">
              <a:spcAft>
                <a:spcPts val="100"/>
              </a:spcAft>
            </a:pPr>
            <a:r>
              <a:rPr sz="1150" b="1">
                <a:solidFill>
                  <a:srgbClr val="111111"/>
                </a:solidFill>
                <a:latin typeface="Calibri"/>
                <a:ea typeface="Calibri"/>
                <a:cs typeface="Calibri"/>
              </a:rPr>
              <a:t>METHODS USED</a:t>
            </a:r>
          </a:p>
          <a:p xmlns:a="http://schemas.openxmlformats.org/drawingml/2006/main">
            <a:pPr algn="l">
              <a:spcAft>
                <a:spcPts val="120"/>
              </a:spcAft>
            </a:pPr>
            <a:r>
              <a:rPr sz="1050" b="0">
                <a:solidFill>
                  <a:srgbClr val="111111"/>
                </a:solidFill>
                <a:latin typeface="Calibri"/>
                <a:ea typeface="Calibri"/>
                <a:cs typeface="Calibri"/>
              </a:rPr>
              <a:t>Wallet format and network recognition</a:t>
            </a:r>
          </a:p>
          <a:p xmlns:a="http://schemas.openxmlformats.org/drawingml/2006/main">
            <a:pPr algn="l">
              <a:spcAft>
                <a:spcPts val="120"/>
              </a:spcAft>
            </a:pPr>
            <a:r>
              <a:rPr sz="1050" b="0">
                <a:solidFill>
                  <a:srgbClr val="111111"/>
                </a:solidFill>
                <a:latin typeface="Calibri"/>
                <a:ea typeface="Calibri"/>
                <a:cs typeface="Calibri"/>
              </a:rPr>
              <a:t>Transaction and counterparty extraction</a:t>
            </a:r>
          </a:p>
          <a:p xmlns:a="http://schemas.openxmlformats.org/drawingml/2006/main">
            <a:pPr algn="l">
              <a:spcAft>
                <a:spcPts val="120"/>
              </a:spcAft>
            </a:pPr>
            <a:r>
              <a:rPr sz="1050" b="0">
                <a:solidFill>
                  <a:srgbClr val="111111"/>
                </a:solidFill>
                <a:latin typeface="Calibri"/>
                <a:ea typeface="Calibri"/>
                <a:cs typeface="Calibri"/>
              </a:rPr>
              <a:t>Rule-based risk scoring and exact registry checks</a:t>
            </a:r>
          </a:p>
          <a:p xmlns:a="http://schemas.openxmlformats.org/drawingml/2006/main">
            <a:pPr algn="l">
              <a:spcAft>
                <a:spcPts val="420"/>
              </a:spcAft>
            </a:pPr>
            <a:r>
              <a:rPr sz="1050" b="0">
                <a:solidFill>
                  <a:srgbClr val="111111"/>
                </a:solidFill>
                <a:latin typeface="Calibri"/>
                <a:ea typeface="Calibri"/>
                <a:cs typeface="Calibri"/>
              </a:rPr>
              <a:t>Evidence package generation</a:t>
            </a:r>
          </a:p>
          <a:p xmlns:a="http://schemas.openxmlformats.org/drawingml/2006/main">
            <a:pPr algn="l">
              <a:spcAft>
                <a:spcPts val="100"/>
              </a:spcAft>
            </a:pPr>
            <a:r>
              <a:rPr sz="1150" b="1">
                <a:solidFill>
                  <a:srgbClr val="111111"/>
                </a:solidFill>
                <a:latin typeface="Calibri"/>
                <a:ea typeface="Calibri"/>
                <a:cs typeface="Calibri"/>
              </a:rPr>
              <a:t>PROTOTYPE EVIDENCE</a:t>
            </a:r>
          </a:p>
          <a:p xmlns:a="http://schemas.openxmlformats.org/drawingml/2006/main">
            <a:pPr algn="l">
              <a:spcAft>
                <a:spcPts val="120"/>
              </a:spcAft>
            </a:pPr>
            <a:r>
              <a:rPr sz="1050" b="0">
                <a:solidFill>
                  <a:srgbClr val="111111"/>
                </a:solidFill>
                <a:latin typeface="Calibri"/>
                <a:ea typeface="Calibri"/>
                <a:cs typeface="Calibri"/>
              </a:rPr>
              <a:t>Complaint-linked investigation intake</a:t>
            </a:r>
          </a:p>
          <a:p xmlns:a="http://schemas.openxmlformats.org/drawingml/2006/main">
            <a:pPr algn="l">
              <a:spcAft>
                <a:spcPts val="120"/>
              </a:spcAft>
            </a:pPr>
            <a:r>
              <a:rPr sz="1050" b="0">
                <a:solidFill>
                  <a:srgbClr val="111111"/>
                </a:solidFill>
                <a:latin typeface="Calibri"/>
                <a:ea typeface="Calibri"/>
                <a:cs typeface="Calibri"/>
              </a:rPr>
              <a:t>Live wallet lookups and recent fund-flow display</a:t>
            </a:r>
          </a:p>
          <a:p xmlns:a="http://schemas.openxmlformats.org/drawingml/2006/main">
            <a:pPr algn="l">
              <a:spcAft>
                <a:spcPts val="120"/>
              </a:spcAft>
            </a:pPr>
            <a:r>
              <a:rPr sz="1050" b="0">
                <a:solidFill>
                  <a:srgbClr val="111111"/>
                </a:solidFill>
                <a:latin typeface="Calibri"/>
                <a:ea typeface="Calibri"/>
                <a:cs typeface="Calibri"/>
              </a:rPr>
              <a:t>Cautious VASP attribution status with confidence</a:t>
            </a:r>
          </a:p>
          <a:p xmlns:a="http://schemas.openxmlformats.org/drawingml/2006/main">
            <a:pPr algn="l">
              <a:spcAft>
                <a:spcPts val="420"/>
              </a:spcAft>
            </a:pPr>
            <a:r>
              <a:rPr sz="1050" b="0">
                <a:solidFill>
                  <a:srgbClr val="111111"/>
                </a:solidFill>
                <a:latin typeface="Calibri"/>
                <a:ea typeface="Calibri"/>
                <a:cs typeface="Calibri"/>
              </a:rPr>
              <a:t>JSON case export with recorded limitations</a:t>
            </a:r>
          </a:p>
          <a:p xmlns:a="http://schemas.openxmlformats.org/drawingml/2006/main">
            <a:pPr algn="l">
              <a:spcAft>
                <a:spcPts val="100"/>
              </a:spcAft>
            </a:pPr>
            <a:r>
              <a:rPr sz="1150" b="1">
                <a:solidFill>
                  <a:srgbClr val="111111"/>
                </a:solidFill>
                <a:latin typeface="Calibri"/>
                <a:ea typeface="Calibri"/>
                <a:cs typeface="Calibri"/>
              </a:rPr>
              <a:t>NEXT VALIDATION</a:t>
            </a:r>
          </a:p>
          <a:p xmlns:a="http://schemas.openxmlformats.org/drawingml/2006/main">
            <a:pPr algn="l">
              <a:spcAft>
                <a:spcPts val="120"/>
              </a:spcAft>
            </a:pPr>
            <a:r>
              <a:rPr sz="1050" b="0">
                <a:solidFill>
                  <a:srgbClr val="111111"/>
                </a:solidFill>
                <a:latin typeface="Calibri"/>
                <a:ea typeface="Calibri"/>
                <a:cs typeface="Calibri"/>
              </a:rPr>
              <a:t>Test labelled VASP clusters and multi-hop traces.</a:t>
            </a:r>
          </a:p>
          <a:p xmlns:a="http://schemas.openxmlformats.org/drawingml/2006/main">
            <a:pPr algn="l">
              <a:spcAft>
                <a:spcPts val="0"/>
              </a:spcAft>
            </a:pPr>
            <a:r>
              <a:rPr sz="1050" b="0">
                <a:solidFill>
                  <a:srgbClr val="111111"/>
                </a:solidFill>
                <a:latin typeface="Calibri"/>
                <a:ea typeface="Calibri"/>
                <a:cs typeface="Calibri"/>
              </a:rPr>
              <a:t>Measure attribution precision and investigation time.</a:t>
            </a:r>
          </a:p>
        </p:txBody>
      </p:sp>
      <p:pic>
        <p:nvPicPr>
          <p:cNvPr id="17418" name="Picture 2"/>
          <p:cNvPicPr>
            <a:picLocks xmlns:a="http://schemas.openxmlformats.org/drawingml/2006/main" noChangeAspect="1"/>
          </p:cNvPicPr>
          <p:nvPr/>
        </p:nvPicPr>
        <p:blipFill>
          <a:blip xmlns:r="http://schemas.openxmlformats.org/officeDocument/2006/relationships" xmlns:a="http://schemas.openxmlformats.org/drawingml/2006/main" r:embed="Rcd78fedafdf14f92"/>
          <a:stretch xmlns:a="http://schemas.openxmlformats.org/drawingml/2006/main">
            <a:fillRect l="0" t="0" r="0" b="0"/>
          </a:stretch>
        </p:blipFill>
        <p:spPr>
          <a:xfrm xmlns:a="http://schemas.openxmlformats.org/drawingml/2006/main">
            <a:off x="3981824" y="1713723"/>
            <a:ext cx="7933765" cy="4035672"/>
          </a:xfrm>
          <a:prstGeom xmlns:a="http://schemas.openxmlformats.org/drawingml/2006/main" prst="rect">
            <a:avLst/>
          </a:prstGeom>
        </p:spPr>
      </p:pic>
      <p:sp>
        <p:nvSpPr>
          <p:cNvPr id="5" name="Oval 4">
            <a:extLst xmlns:a="http://schemas.openxmlformats.org/drawingml/2006/main">
              <a:ext uri="{FF2B5EF4-FFF2-40B4-BE49-F238E27FC236}">
                <a16:creationId xmlns:a16="http://schemas.microsoft.com/office/drawing/2014/main" id="{B1C2F228-0F83-C914-086B-6B7082C69945}"/>
              </a:ext>
            </a:extLst>
          </p:cNvPr>
          <p:cNvSpPr>
            <a:spLocks xmlns:a="http://schemas.openxmlformats.org/drawingml/2006/main" noGrp="1"/>
          </p:cNvSpPr>
          <p:nvPr/>
        </p:nvSpPr>
        <p:spPr>
          <a:xfrm xmlns:a="http://schemas.openxmlformats.org/drawingml/2006/main">
            <a:off x="1067" y="170070"/>
            <a:ext cx="1677680"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lIns="91440" tIns="45720" rIns="91440" bIns="45720" anchor="ctr"/>
          <a:lstStyle xmlns:a="http://schemas.openxmlformats.org/drawingml/2006/main"/>
          <a:p xmlns:a="http://schemas.openxmlformats.org/drawingml/2006/main">
            <a:pPr algn="ctr">
              <a:buNone/>
            </a:pPr>
            <a:r>
              <a:t>SafeByte</a:t>
            </a:r>
            <a:endParaRPr/>
          </a:p>
        </p:txBody>
      </p:sp>
    </p:spTree>
    <p:extLst>
      <p:ext uri="{BB962C8B-B14F-4D97-AF65-F5344CB8AC3E}">
        <p14:creationId xmlns:p14="http://schemas.microsoft.com/office/powerpoint/2010/main" val="391678861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18C0D013-D83B-5EF7-0AA1-81FE1ECE82C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r>
              <a:t>@SIH Idea submission- Template</a:t>
            </a:r>
          </a:p>
        </p:txBody>
      </p:sp>
      <p:sp>
        <p:nvSpPr>
          <p:cNvPr id="5" name="Slide Number Placeholder 4">
            <a:extLst xmlns:a="http://schemas.openxmlformats.org/drawingml/2006/main">
              <a:ext uri="{FF2B5EF4-FFF2-40B4-BE49-F238E27FC236}">
                <a16:creationId xmlns:a16="http://schemas.microsoft.com/office/drawing/2014/main" id="{19F38E9C-D635-DDD3-954A-DBF9B2ED401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t>7</a:t>
            </a:fld>
            <a:endParaRPr/>
          </a:p>
        </p:txBody>
      </p:sp>
      <p:pic>
        <p:nvPicPr>
          <p:cNvPr id="57" name="Picture 6"/>
          <p:cNvPicPr>
            <a:picLocks xmlns:a="http://schemas.openxmlformats.org/drawingml/2006/main" noChangeAspect="1"/>
          </p:cNvPicPr>
          <p:nvPr/>
        </p:nvPicPr>
        <p:blipFill>
          <a:blip xmlns:r="http://schemas.openxmlformats.org/officeDocument/2006/relationships" xmlns:a="http://schemas.openxmlformats.org/drawingml/2006/main" r:embed="Ra7a944d86bf14452"/>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9" name="Oval 8">
            <a:extLst xmlns:a="http://schemas.openxmlformats.org/drawingml/2006/main">
              <a:ext uri="{FF2B5EF4-FFF2-40B4-BE49-F238E27FC236}">
                <a16:creationId xmlns:a16="http://schemas.microsoft.com/office/drawing/2014/main" id="{52003CE2-998A-6080-9CB6-730ED6A59578}"/>
              </a:ext>
            </a:extLst>
          </p:cNvPr>
          <p:cNvSpPr>
            <a:spLocks xmlns:a="http://schemas.openxmlformats.org/drawingml/2006/main" noGrp="1"/>
          </p:cNvSpPr>
          <p:nvPr/>
        </p:nvSpPr>
        <p:spPr>
          <a:xfrm xmlns:a="http://schemas.openxmlformats.org/drawingml/2006/main">
            <a:off x="1067" y="170070"/>
            <a:ext cx="1677680"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lIns="91440" tIns="45720" rIns="91440" bIns="45720" anchor="ctr"/>
          <a:lstStyle xmlns:a="http://schemas.openxmlformats.org/drawingml/2006/main"/>
          <a:p xmlns:a="http://schemas.openxmlformats.org/drawingml/2006/main">
            <a:pPr algn="ctr">
              <a:buNone/>
            </a:pPr>
            <a:r>
              <a:t>SafeByte</a:t>
            </a:r>
            <a:endParaRPr/>
          </a:p>
        </p:txBody>
      </p:sp>
      <p:sp>
        <p:nvSpPr>
          <p:cNvPr id="13" name="TextBox 12">
            <a:extLst xmlns:a="http://schemas.openxmlformats.org/drawingml/2006/main">
              <a:ext uri="{FF2B5EF4-FFF2-40B4-BE49-F238E27FC236}">
                <a16:creationId xmlns:a16="http://schemas.microsoft.com/office/drawing/2014/main" id="{433F746D-24BB-6EBC-F0E3-2C08E5F2D1FF}"/>
              </a:ext>
            </a:extLst>
          </p:cNvPr>
          <p:cNvSpPr>
            <a:spLocks xmlns:a="http://schemas.openxmlformats.org/drawingml/2006/main" noGrp="1"/>
          </p:cNvSpPr>
          <p:nvPr/>
        </p:nvSpPr>
        <p:spPr>
          <a:xfrm xmlns:a="http://schemas.openxmlformats.org/drawingml/2006/main">
            <a:off x="3273097" y="214498"/>
            <a:ext cx="5811520" cy="1188720"/>
          </a:xfrm>
          <a:prstGeom xmlns:a="http://schemas.openxmlformats.org/drawingml/2006/main" prst="rect">
            <a:avLst/>
          </a:prstGeom>
          <a:noFill xmlns:a="http://schemas.openxmlformats.org/drawingml/2006/main"/>
        </p:spPr>
        <p:txBody>
          <a:bodyPr xmlns:a="http://schemas.openxmlformats.org/drawingml/2006/main" rot="0" spcFirstLastPara="0" vert="horz" wrap="square" lIns="91440" tIns="45720" rIns="91440" bIns="45720" anchor="t">
            <a:spAutoFit/>
          </a:bodyPr>
          <a:lstStyle xmlns:a="http://schemas.openxmlformats.org/drawingml/2006/main"/>
          <a:p xmlns:a="http://schemas.openxmlformats.org/drawingml/2006/main">
            <a:r>
              <a:rPr sz="3600" b="1">
                <a:latin typeface="Times New Roman"/>
                <a:ea typeface="Times New Roman"/>
                <a:cs typeface="Times New Roman"/>
              </a:rPr>
              <a:t>Crypto Fraud Investigation Workflow</a:t>
            </a:r>
            <a:endParaRPr sz="3600" b="1">
              <a:latin typeface="Times New Roman"/>
              <a:ea typeface="Times New Roman"/>
              <a:cs typeface="Times New Roman"/>
            </a:endParaRPr>
          </a:p>
        </p:txBody>
      </p:sp>
      <p:sp>
        <p:nvSpPr>
          <p:cNvPr id="15" name="workflow-stage-1">
            <a:extLst xmlns:a="http://schemas.openxmlformats.org/drawingml/2006/main">
              <a:ext uri="{FF2B5EF4-FFF2-40B4-BE49-F238E27FC236}">
                <a16:creationId xmlns:a16="http://schemas.microsoft.com/office/drawing/2014/main" id="{02E6FD1D-15A0-457B-ABBF-7037FF383993}"/>
              </a:ext>
            </a:extLst>
          </p:cNvPr>
          <p:cNvSpPr>
            <a:spLocks xmlns:a="http://schemas.openxmlformats.org/drawingml/2006/main" noGrp="1"/>
          </p:cNvSpPr>
          <p:nvPr/>
        </p:nvSpPr>
        <p:spPr>
          <a:xfrm xmlns:a="http://schemas.openxmlformats.org/drawingml/2006/main">
            <a:off x="476250" y="1809750"/>
            <a:ext cx="1905000" cy="2333625"/>
          </a:xfrm>
          <a:prstGeom xmlns:a="http://schemas.openxmlformats.org/drawingml/2006/main" prst="roundRect">
            <a:avLst>
              <a:gd name="adj" fmla="val 8000"/>
            </a:avLst>
          </a:prstGeom>
          <a:solidFill xmlns:a="http://schemas.openxmlformats.org/drawingml/2006/main">
            <a:srgbClr val="EEF4FA"/>
          </a:solidFill>
          <a:ln xmlns:a="http://schemas.openxmlformats.org/drawingml/2006/main" w="19050">
            <a:solidFill>
              <a:srgbClr val="4F81B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14300" tIns="228600" rIns="114300" bIns="133350" anchor="ctr">
            <a:normAutofit fontScale="100000"/>
          </a:bodyPr>
          <a:lstStyle xmlns:a="http://schemas.openxmlformats.org/drawingml/2006/main"/>
          <a:p xmlns:a="http://schemas.openxmlformats.org/drawingml/2006/main">
            <a:pPr algn="ctr">
              <a:spcAft>
                <a:spcPts val="900"/>
              </a:spcAft>
              <a:buNone/>
            </a:pPr>
            <a:r>
              <a:rPr sz="1600" b="1">
                <a:solidFill>
                  <a:srgbClr val="4F81BD"/>
                </a:solidFill>
                <a:latin typeface="Calibri"/>
                <a:ea typeface="Calibri"/>
                <a:cs typeface="Calibri"/>
              </a:rPr>
              <a:t>CASE INTAKE</a:t>
            </a:r>
          </a:p>
          <a:p xmlns:a="http://schemas.openxmlformats.org/drawingml/2006/main">
            <a:pPr algn="ctr">
              <a:spcAft>
                <a:spcPts val="420"/>
              </a:spcAft>
              <a:buNone/>
            </a:pPr>
            <a:r>
              <a:rPr sz="1250">
                <a:solidFill>
                  <a:srgbClr val="25364A"/>
                </a:solidFill>
                <a:latin typeface="Calibri"/>
                <a:ea typeface="Calibri"/>
                <a:cs typeface="Calibri"/>
              </a:rPr>
              <a:t>NCRP or SAHYOG ID</a:t>
            </a:r>
          </a:p>
          <a:p xmlns:a="http://schemas.openxmlformats.org/drawingml/2006/main">
            <a:pPr algn="ctr">
              <a:spcAft>
                <a:spcPts val="420"/>
              </a:spcAft>
              <a:buNone/>
            </a:pPr>
            <a:r>
              <a:rPr sz="1250">
                <a:solidFill>
                  <a:srgbClr val="25364A"/>
                </a:solidFill>
                <a:latin typeface="Calibri"/>
                <a:ea typeface="Calibri"/>
                <a:cs typeface="Calibri"/>
              </a:rPr>
              <a:t>Victim-reported wallet</a:t>
            </a:r>
          </a:p>
          <a:p xmlns:a="http://schemas.openxmlformats.org/drawingml/2006/main">
            <a:pPr algn="ctr">
              <a:spcAft>
                <a:spcPts val="420"/>
              </a:spcAft>
              <a:buNone/>
            </a:pPr>
            <a:r>
              <a:rPr sz="1250">
                <a:solidFill>
                  <a:srgbClr val="25364A"/>
                </a:solidFill>
                <a:latin typeface="Calibri"/>
                <a:ea typeface="Calibri"/>
                <a:cs typeface="Calibri"/>
              </a:rPr>
              <a:t>Complaint time</a:t>
            </a:r>
          </a:p>
        </p:txBody>
      </p:sp>
      <p:sp>
        <p:nvSpPr>
          <p:cNvPr id="16" name="workflow-step-1">
            <a:extLst xmlns:a="http://schemas.openxmlformats.org/drawingml/2006/main">
              <a:ext uri="{FF2B5EF4-FFF2-40B4-BE49-F238E27FC236}">
                <a16:creationId xmlns:a16="http://schemas.microsoft.com/office/drawing/2014/main" id="{FA7C0063-3C4E-4EA0-BAF7-58F8066D8A60}"/>
              </a:ext>
            </a:extLst>
          </p:cNvPr>
          <p:cNvSpPr>
            <a:spLocks xmlns:a="http://schemas.openxmlformats.org/drawingml/2006/main" noGrp="1"/>
          </p:cNvSpPr>
          <p:nvPr/>
        </p:nvSpPr>
        <p:spPr>
          <a:xfrm xmlns:a="http://schemas.openxmlformats.org/drawingml/2006/main">
            <a:off x="1200150" y="1457325"/>
            <a:ext cx="457200" cy="457200"/>
          </a:xfrm>
          <a:prstGeom xmlns:a="http://schemas.openxmlformats.org/drawingml/2006/main" prst="ellipse">
            <a:avLst/>
          </a:prstGeom>
          <a:solidFill xmlns:a="http://schemas.openxmlformats.org/drawingml/2006/main">
            <a:srgbClr val="4F81BD"/>
          </a:solidFill>
          <a:ln xmlns:a="http://schemas.openxmlformats.org/drawingml/2006/main" w="19050">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650" b="1">
                <a:solidFill>
                  <a:srgbClr val="FFFFFF"/>
                </a:solidFill>
                <a:latin typeface="Calibri"/>
                <a:ea typeface="Calibri"/>
                <a:cs typeface="Calibri"/>
              </a:defRPr>
            </a:pPr>
            <a:r>
              <a:rPr sz="1650" b="1">
                <a:solidFill>
                  <a:srgbClr val="FFFFFF"/>
                </a:solidFill>
                <a:latin typeface="Calibri"/>
                <a:ea typeface="Calibri"/>
                <a:cs typeface="Calibri"/>
              </a:rPr>
              <a:t>1</a:t>
            </a:r>
          </a:p>
        </p:txBody>
      </p:sp>
      <p:sp>
        <p:nvSpPr>
          <p:cNvPr id="17" name="workflow-stage-2">
            <a:extLst xmlns:a="http://schemas.openxmlformats.org/drawingml/2006/main">
              <a:ext uri="{FF2B5EF4-FFF2-40B4-BE49-F238E27FC236}">
                <a16:creationId xmlns:a16="http://schemas.microsoft.com/office/drawing/2014/main" id="{19C076B2-D88F-4F9A-AB84-BE5287217081}"/>
              </a:ext>
            </a:extLst>
          </p:cNvPr>
          <p:cNvSpPr>
            <a:spLocks xmlns:a="http://schemas.openxmlformats.org/drawingml/2006/main" noGrp="1"/>
          </p:cNvSpPr>
          <p:nvPr/>
        </p:nvSpPr>
        <p:spPr>
          <a:xfrm xmlns:a="http://schemas.openxmlformats.org/drawingml/2006/main">
            <a:off x="2724150" y="1809750"/>
            <a:ext cx="1905000" cy="2333625"/>
          </a:xfrm>
          <a:prstGeom xmlns:a="http://schemas.openxmlformats.org/drawingml/2006/main" prst="roundRect">
            <a:avLst>
              <a:gd name="adj" fmla="val 8000"/>
            </a:avLst>
          </a:prstGeom>
          <a:solidFill xmlns:a="http://schemas.openxmlformats.org/drawingml/2006/main">
            <a:srgbClr val="EEF8FA"/>
          </a:solidFill>
          <a:ln xmlns:a="http://schemas.openxmlformats.org/drawingml/2006/main" w="19050">
            <a:solidFill>
              <a:srgbClr val="4BACC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14300" tIns="228600" rIns="114300" bIns="133350" anchor="ctr">
            <a:normAutofit fontScale="100000"/>
          </a:bodyPr>
          <a:lstStyle xmlns:a="http://schemas.openxmlformats.org/drawingml/2006/main"/>
          <a:p xmlns:a="http://schemas.openxmlformats.org/drawingml/2006/main">
            <a:pPr algn="ctr">
              <a:spcAft>
                <a:spcPts val="900"/>
              </a:spcAft>
              <a:buNone/>
            </a:pPr>
            <a:r>
              <a:rPr sz="1600" b="1">
                <a:solidFill>
                  <a:srgbClr val="4BACC6"/>
                </a:solidFill>
                <a:latin typeface="Calibri"/>
                <a:ea typeface="Calibri"/>
                <a:cs typeface="Calibri"/>
              </a:rPr>
              <a:t>CHAIN EVIDENCE</a:t>
            </a:r>
          </a:p>
          <a:p xmlns:a="http://schemas.openxmlformats.org/drawingml/2006/main">
            <a:pPr algn="ctr">
              <a:spcAft>
                <a:spcPts val="420"/>
              </a:spcAft>
              <a:buNone/>
            </a:pPr>
            <a:r>
              <a:rPr sz="1250">
                <a:solidFill>
                  <a:srgbClr val="25364A"/>
                </a:solidFill>
                <a:latin typeface="Calibri"/>
                <a:ea typeface="Calibri"/>
                <a:cs typeface="Calibri"/>
              </a:rPr>
              <a:t>Detect wallet network</a:t>
            </a:r>
          </a:p>
          <a:p xmlns:a="http://schemas.openxmlformats.org/drawingml/2006/main">
            <a:pPr algn="ctr">
              <a:spcAft>
                <a:spcPts val="420"/>
              </a:spcAft>
              <a:buNone/>
            </a:pPr>
            <a:r>
              <a:rPr sz="1250">
                <a:solidFill>
                  <a:srgbClr val="25364A"/>
                </a:solidFill>
                <a:latin typeface="Calibri"/>
                <a:ea typeface="Calibri"/>
                <a:cs typeface="Calibri"/>
              </a:rPr>
              <a:t>Balance and activity</a:t>
            </a:r>
          </a:p>
          <a:p xmlns:a="http://schemas.openxmlformats.org/drawingml/2006/main">
            <a:pPr algn="ctr">
              <a:spcAft>
                <a:spcPts val="420"/>
              </a:spcAft>
              <a:buNone/>
            </a:pPr>
            <a:r>
              <a:rPr sz="1250">
                <a:solidFill>
                  <a:srgbClr val="25364A"/>
                </a:solidFill>
                <a:latin typeface="Calibri"/>
                <a:ea typeface="Calibri"/>
                <a:cs typeface="Calibri"/>
              </a:rPr>
              <a:t>Transaction records</a:t>
            </a:r>
          </a:p>
        </p:txBody>
      </p:sp>
      <p:sp>
        <p:nvSpPr>
          <p:cNvPr id="18" name="workflow-step-2">
            <a:extLst xmlns:a="http://schemas.openxmlformats.org/drawingml/2006/main">
              <a:ext uri="{FF2B5EF4-FFF2-40B4-BE49-F238E27FC236}">
                <a16:creationId xmlns:a16="http://schemas.microsoft.com/office/drawing/2014/main" id="{98DAD946-2B14-48D8-9026-F2D0C1E3FB4A}"/>
              </a:ext>
            </a:extLst>
          </p:cNvPr>
          <p:cNvSpPr>
            <a:spLocks xmlns:a="http://schemas.openxmlformats.org/drawingml/2006/main" noGrp="1"/>
          </p:cNvSpPr>
          <p:nvPr/>
        </p:nvSpPr>
        <p:spPr>
          <a:xfrm xmlns:a="http://schemas.openxmlformats.org/drawingml/2006/main">
            <a:off x="3448050" y="1457325"/>
            <a:ext cx="457200" cy="457200"/>
          </a:xfrm>
          <a:prstGeom xmlns:a="http://schemas.openxmlformats.org/drawingml/2006/main" prst="ellipse">
            <a:avLst/>
          </a:prstGeom>
          <a:solidFill xmlns:a="http://schemas.openxmlformats.org/drawingml/2006/main">
            <a:srgbClr val="4BACC6"/>
          </a:solidFill>
          <a:ln xmlns:a="http://schemas.openxmlformats.org/drawingml/2006/main" w="19050">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650" b="1">
                <a:solidFill>
                  <a:srgbClr val="FFFFFF"/>
                </a:solidFill>
                <a:latin typeface="Calibri"/>
                <a:ea typeface="Calibri"/>
                <a:cs typeface="Calibri"/>
              </a:defRPr>
            </a:pPr>
            <a:r>
              <a:rPr sz="1650" b="1">
                <a:solidFill>
                  <a:srgbClr val="FFFFFF"/>
                </a:solidFill>
                <a:latin typeface="Calibri"/>
                <a:ea typeface="Calibri"/>
                <a:cs typeface="Calibri"/>
              </a:rPr>
              <a:t>2</a:t>
            </a:r>
          </a:p>
        </p:txBody>
      </p:sp>
      <p:sp>
        <p:nvSpPr>
          <p:cNvPr id="19" name="workflow-stage-3">
            <a:extLst xmlns:a="http://schemas.openxmlformats.org/drawingml/2006/main">
              <a:ext uri="{FF2B5EF4-FFF2-40B4-BE49-F238E27FC236}">
                <a16:creationId xmlns:a16="http://schemas.microsoft.com/office/drawing/2014/main" id="{7F2AC612-0BE6-46F3-BA1A-0EC17549155E}"/>
              </a:ext>
            </a:extLst>
          </p:cNvPr>
          <p:cNvSpPr>
            <a:spLocks xmlns:a="http://schemas.openxmlformats.org/drawingml/2006/main" noGrp="1"/>
          </p:cNvSpPr>
          <p:nvPr/>
        </p:nvSpPr>
        <p:spPr>
          <a:xfrm xmlns:a="http://schemas.openxmlformats.org/drawingml/2006/main">
            <a:off x="4972050" y="1809750"/>
            <a:ext cx="1905000" cy="2333625"/>
          </a:xfrm>
          <a:prstGeom xmlns:a="http://schemas.openxmlformats.org/drawingml/2006/main" prst="roundRect">
            <a:avLst>
              <a:gd name="adj" fmla="val 8000"/>
            </a:avLst>
          </a:prstGeom>
          <a:solidFill xmlns:a="http://schemas.openxmlformats.org/drawingml/2006/main">
            <a:srgbClr val="F2F7EA"/>
          </a:solidFill>
          <a:ln xmlns:a="http://schemas.openxmlformats.org/drawingml/2006/main" w="19050">
            <a:solidFill>
              <a:srgbClr val="6F923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14300" tIns="228600" rIns="114300" bIns="133350" anchor="ctr">
            <a:normAutofit fontScale="100000"/>
          </a:bodyPr>
          <a:lstStyle xmlns:a="http://schemas.openxmlformats.org/drawingml/2006/main"/>
          <a:p xmlns:a="http://schemas.openxmlformats.org/drawingml/2006/main">
            <a:pPr algn="ctr">
              <a:spcAft>
                <a:spcPts val="900"/>
              </a:spcAft>
              <a:buNone/>
            </a:pPr>
            <a:r>
              <a:rPr sz="1600" b="1">
                <a:solidFill>
                  <a:srgbClr val="6F923E"/>
                </a:solidFill>
                <a:latin typeface="Calibri"/>
                <a:ea typeface="Calibri"/>
                <a:cs typeface="Calibri"/>
              </a:rPr>
              <a:t>FUND FLOW</a:t>
            </a:r>
          </a:p>
          <a:p xmlns:a="http://schemas.openxmlformats.org/drawingml/2006/main">
            <a:pPr algn="ctr">
              <a:spcAft>
                <a:spcPts val="420"/>
              </a:spcAft>
              <a:buNone/>
            </a:pPr>
            <a:r>
              <a:rPr sz="1250">
                <a:solidFill>
                  <a:srgbClr val="25364A"/>
                </a:solidFill>
                <a:latin typeface="Calibri"/>
                <a:ea typeface="Calibri"/>
                <a:cs typeface="Calibri"/>
              </a:rPr>
              <a:t>Recent counterparties</a:t>
            </a:r>
          </a:p>
          <a:p xmlns:a="http://schemas.openxmlformats.org/drawingml/2006/main">
            <a:pPr algn="ctr">
              <a:spcAft>
                <a:spcPts val="420"/>
              </a:spcAft>
              <a:buNone/>
            </a:pPr>
            <a:r>
              <a:rPr sz="1250">
                <a:solidFill>
                  <a:srgbClr val="25364A"/>
                </a:solidFill>
                <a:latin typeface="Calibri"/>
                <a:ea typeface="Calibri"/>
                <a:cs typeface="Calibri"/>
              </a:rPr>
              <a:t>Incoming and outgoing</a:t>
            </a:r>
          </a:p>
          <a:p xmlns:a="http://schemas.openxmlformats.org/drawingml/2006/main">
            <a:pPr algn="ctr">
              <a:spcAft>
                <a:spcPts val="420"/>
              </a:spcAft>
              <a:buNone/>
            </a:pPr>
            <a:r>
              <a:rPr sz="1250">
                <a:solidFill>
                  <a:srgbClr val="25364A"/>
                </a:solidFill>
                <a:latin typeface="Calibri"/>
                <a:ea typeface="Calibri"/>
                <a:cs typeface="Calibri"/>
              </a:rPr>
              <a:t>Multi-hop tracing next</a:t>
            </a:r>
          </a:p>
        </p:txBody>
      </p:sp>
      <p:sp>
        <p:nvSpPr>
          <p:cNvPr id="20" name="workflow-step-3">
            <a:extLst xmlns:a="http://schemas.openxmlformats.org/drawingml/2006/main">
              <a:ext uri="{FF2B5EF4-FFF2-40B4-BE49-F238E27FC236}">
                <a16:creationId xmlns:a16="http://schemas.microsoft.com/office/drawing/2014/main" id="{3EF08C3E-7D28-4117-9BA7-F13B36E11F88}"/>
              </a:ext>
            </a:extLst>
          </p:cNvPr>
          <p:cNvSpPr>
            <a:spLocks xmlns:a="http://schemas.openxmlformats.org/drawingml/2006/main" noGrp="1"/>
          </p:cNvSpPr>
          <p:nvPr/>
        </p:nvSpPr>
        <p:spPr>
          <a:xfrm xmlns:a="http://schemas.openxmlformats.org/drawingml/2006/main">
            <a:off x="5695950" y="1457325"/>
            <a:ext cx="457200" cy="457200"/>
          </a:xfrm>
          <a:prstGeom xmlns:a="http://schemas.openxmlformats.org/drawingml/2006/main" prst="ellipse">
            <a:avLst/>
          </a:prstGeom>
          <a:solidFill xmlns:a="http://schemas.openxmlformats.org/drawingml/2006/main">
            <a:srgbClr val="6F923E"/>
          </a:solidFill>
          <a:ln xmlns:a="http://schemas.openxmlformats.org/drawingml/2006/main" w="19050">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650" b="1">
                <a:solidFill>
                  <a:srgbClr val="FFFFFF"/>
                </a:solidFill>
                <a:latin typeface="Calibri"/>
                <a:ea typeface="Calibri"/>
                <a:cs typeface="Calibri"/>
              </a:defRPr>
            </a:pPr>
            <a:r>
              <a:rPr sz="1650" b="1">
                <a:solidFill>
                  <a:srgbClr val="FFFFFF"/>
                </a:solidFill>
                <a:latin typeface="Calibri"/>
                <a:ea typeface="Calibri"/>
                <a:cs typeface="Calibri"/>
              </a:rPr>
              <a:t>3</a:t>
            </a:r>
          </a:p>
        </p:txBody>
      </p:sp>
      <p:sp>
        <p:nvSpPr>
          <p:cNvPr id="21" name="workflow-stage-4">
            <a:extLst xmlns:a="http://schemas.openxmlformats.org/drawingml/2006/main">
              <a:ext uri="{FF2B5EF4-FFF2-40B4-BE49-F238E27FC236}">
                <a16:creationId xmlns:a16="http://schemas.microsoft.com/office/drawing/2014/main" id="{A24D9F20-1CB7-41FA-9C8F-38C23EA5A639}"/>
              </a:ext>
            </a:extLst>
          </p:cNvPr>
          <p:cNvSpPr>
            <a:spLocks xmlns:a="http://schemas.openxmlformats.org/drawingml/2006/main" noGrp="1"/>
          </p:cNvSpPr>
          <p:nvPr/>
        </p:nvSpPr>
        <p:spPr>
          <a:xfrm xmlns:a="http://schemas.openxmlformats.org/drawingml/2006/main">
            <a:off x="7219950" y="1809750"/>
            <a:ext cx="1905000" cy="2333625"/>
          </a:xfrm>
          <a:prstGeom xmlns:a="http://schemas.openxmlformats.org/drawingml/2006/main" prst="roundRect">
            <a:avLst>
              <a:gd name="adj" fmla="val 8000"/>
            </a:avLst>
          </a:prstGeom>
          <a:solidFill xmlns:a="http://schemas.openxmlformats.org/drawingml/2006/main">
            <a:srgbClr val="FFF4EA"/>
          </a:solidFill>
          <a:ln xmlns:a="http://schemas.openxmlformats.org/drawingml/2006/main" w="19050">
            <a:solidFill>
              <a:srgbClr val="D7752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14300" tIns="228600" rIns="114300" bIns="133350" anchor="ctr">
            <a:normAutofit fontScale="100000"/>
          </a:bodyPr>
          <a:lstStyle xmlns:a="http://schemas.openxmlformats.org/drawingml/2006/main"/>
          <a:p xmlns:a="http://schemas.openxmlformats.org/drawingml/2006/main">
            <a:pPr algn="ctr">
              <a:spcAft>
                <a:spcPts val="900"/>
              </a:spcAft>
              <a:buNone/>
            </a:pPr>
            <a:r>
              <a:rPr sz="1600" b="1">
                <a:solidFill>
                  <a:srgbClr val="D77525"/>
                </a:solidFill>
                <a:latin typeface="Calibri"/>
                <a:ea typeface="Calibri"/>
                <a:cs typeface="Calibri"/>
              </a:rPr>
              <a:t>VASP ATTRIBUTION</a:t>
            </a:r>
          </a:p>
          <a:p xmlns:a="http://schemas.openxmlformats.org/drawingml/2006/main">
            <a:pPr algn="ctr">
              <a:spcAft>
                <a:spcPts val="420"/>
              </a:spcAft>
              <a:buNone/>
            </a:pPr>
            <a:r>
              <a:rPr sz="1250">
                <a:solidFill>
                  <a:srgbClr val="25364A"/>
                </a:solidFill>
                <a:latin typeface="Calibri"/>
                <a:ea typeface="Calibri"/>
                <a:cs typeface="Calibri"/>
              </a:rPr>
              <a:t>Entity registry check</a:t>
            </a:r>
          </a:p>
          <a:p xmlns:a="http://schemas.openxmlformats.org/drawingml/2006/main">
            <a:pPr algn="ctr">
              <a:spcAft>
                <a:spcPts val="420"/>
              </a:spcAft>
              <a:buNone/>
            </a:pPr>
            <a:r>
              <a:rPr sz="1250">
                <a:solidFill>
                  <a:srgbClr val="25364A"/>
                </a:solidFill>
                <a:latin typeface="Calibri"/>
                <a:ea typeface="Calibri"/>
                <a:cs typeface="Calibri"/>
              </a:rPr>
              <a:t>Confidence and basis</a:t>
            </a:r>
          </a:p>
          <a:p xmlns:a="http://schemas.openxmlformats.org/drawingml/2006/main">
            <a:pPr algn="ctr">
              <a:spcAft>
                <a:spcPts val="420"/>
              </a:spcAft>
              <a:buNone/>
            </a:pPr>
            <a:r>
              <a:rPr sz="1250">
                <a:solidFill>
                  <a:srgbClr val="25364A"/>
                </a:solidFill>
                <a:latin typeface="Calibri"/>
                <a:ea typeface="Calibri"/>
                <a:cs typeface="Calibri"/>
              </a:rPr>
              <a:t>Analyst validation</a:t>
            </a:r>
          </a:p>
        </p:txBody>
      </p:sp>
      <p:sp>
        <p:nvSpPr>
          <p:cNvPr id="22" name="workflow-step-4">
            <a:extLst xmlns:a="http://schemas.openxmlformats.org/drawingml/2006/main">
              <a:ext uri="{FF2B5EF4-FFF2-40B4-BE49-F238E27FC236}">
                <a16:creationId xmlns:a16="http://schemas.microsoft.com/office/drawing/2014/main" id="{510A389E-1C1D-4F33-88C0-AD29A1B51F96}"/>
              </a:ext>
            </a:extLst>
          </p:cNvPr>
          <p:cNvSpPr>
            <a:spLocks xmlns:a="http://schemas.openxmlformats.org/drawingml/2006/main" noGrp="1"/>
          </p:cNvSpPr>
          <p:nvPr/>
        </p:nvSpPr>
        <p:spPr>
          <a:xfrm xmlns:a="http://schemas.openxmlformats.org/drawingml/2006/main">
            <a:off x="7943850" y="1457325"/>
            <a:ext cx="457200" cy="457200"/>
          </a:xfrm>
          <a:prstGeom xmlns:a="http://schemas.openxmlformats.org/drawingml/2006/main" prst="ellipse">
            <a:avLst/>
          </a:prstGeom>
          <a:solidFill xmlns:a="http://schemas.openxmlformats.org/drawingml/2006/main">
            <a:srgbClr val="D77525"/>
          </a:solidFill>
          <a:ln xmlns:a="http://schemas.openxmlformats.org/drawingml/2006/main" w="19050">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650" b="1">
                <a:solidFill>
                  <a:srgbClr val="FFFFFF"/>
                </a:solidFill>
                <a:latin typeface="Calibri"/>
                <a:ea typeface="Calibri"/>
                <a:cs typeface="Calibri"/>
              </a:defRPr>
            </a:pPr>
            <a:r>
              <a:rPr sz="1650" b="1">
                <a:solidFill>
                  <a:srgbClr val="FFFFFF"/>
                </a:solidFill>
                <a:latin typeface="Calibri"/>
                <a:ea typeface="Calibri"/>
                <a:cs typeface="Calibri"/>
              </a:rPr>
              <a:t>4</a:t>
            </a:r>
          </a:p>
        </p:txBody>
      </p:sp>
      <p:sp>
        <p:nvSpPr>
          <p:cNvPr id="23" name="workflow-stage-5">
            <a:extLst xmlns:a="http://schemas.openxmlformats.org/drawingml/2006/main">
              <a:ext uri="{FF2B5EF4-FFF2-40B4-BE49-F238E27FC236}">
                <a16:creationId xmlns:a16="http://schemas.microsoft.com/office/drawing/2014/main" id="{E0191FA4-CD67-49A5-939E-68C452522A8E}"/>
              </a:ext>
            </a:extLst>
          </p:cNvPr>
          <p:cNvSpPr>
            <a:spLocks xmlns:a="http://schemas.openxmlformats.org/drawingml/2006/main" noGrp="1"/>
          </p:cNvSpPr>
          <p:nvPr/>
        </p:nvSpPr>
        <p:spPr>
          <a:xfrm xmlns:a="http://schemas.openxmlformats.org/drawingml/2006/main">
            <a:off x="9467850" y="1809750"/>
            <a:ext cx="1905000" cy="2333625"/>
          </a:xfrm>
          <a:prstGeom xmlns:a="http://schemas.openxmlformats.org/drawingml/2006/main" prst="roundRect">
            <a:avLst>
              <a:gd name="adj" fmla="val 8000"/>
            </a:avLst>
          </a:prstGeom>
          <a:solidFill xmlns:a="http://schemas.openxmlformats.org/drawingml/2006/main">
            <a:srgbClr val="EEF4FA"/>
          </a:solidFill>
          <a:ln xmlns:a="http://schemas.openxmlformats.org/drawingml/2006/main" w="19050">
            <a:solidFill>
              <a:srgbClr val="1F497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114300" tIns="228600" rIns="114300" bIns="133350" anchor="ctr">
            <a:normAutofit fontScale="100000"/>
          </a:bodyPr>
          <a:lstStyle xmlns:a="http://schemas.openxmlformats.org/drawingml/2006/main"/>
          <a:p xmlns:a="http://schemas.openxmlformats.org/drawingml/2006/main">
            <a:pPr algn="ctr">
              <a:spcAft>
                <a:spcPts val="900"/>
              </a:spcAft>
              <a:buNone/>
            </a:pPr>
            <a:r>
              <a:rPr sz="1600" b="1">
                <a:solidFill>
                  <a:srgbClr val="1F497D"/>
                </a:solidFill>
                <a:latin typeface="Calibri"/>
                <a:ea typeface="Calibri"/>
                <a:cs typeface="Calibri"/>
              </a:rPr>
              <a:t>CASE ACTION</a:t>
            </a:r>
          </a:p>
          <a:p xmlns:a="http://schemas.openxmlformats.org/drawingml/2006/main">
            <a:pPr algn="ctr">
              <a:spcAft>
                <a:spcPts val="420"/>
              </a:spcAft>
              <a:buNone/>
            </a:pPr>
            <a:r>
              <a:rPr sz="1250">
                <a:solidFill>
                  <a:srgbClr val="25364A"/>
                </a:solidFill>
                <a:latin typeface="Calibri"/>
                <a:ea typeface="Calibri"/>
                <a:cs typeface="Calibri"/>
              </a:rPr>
              <a:t>Evidence package</a:t>
            </a:r>
          </a:p>
          <a:p xmlns:a="http://schemas.openxmlformats.org/drawingml/2006/main">
            <a:pPr algn="ctr">
              <a:spcAft>
                <a:spcPts val="420"/>
              </a:spcAft>
              <a:buNone/>
            </a:pPr>
            <a:r>
              <a:rPr sz="1250">
                <a:solidFill>
                  <a:srgbClr val="25364A"/>
                </a:solidFill>
                <a:latin typeface="Calibri"/>
                <a:ea typeface="Calibri"/>
                <a:cs typeface="Calibri"/>
              </a:rPr>
              <a:t>Preservation request</a:t>
            </a:r>
          </a:p>
          <a:p xmlns:a="http://schemas.openxmlformats.org/drawingml/2006/main">
            <a:pPr algn="ctr">
              <a:spcAft>
                <a:spcPts val="420"/>
              </a:spcAft>
              <a:buNone/>
            </a:pPr>
            <a:r>
              <a:rPr sz="1250">
                <a:solidFill>
                  <a:srgbClr val="25364A"/>
                </a:solidFill>
                <a:latin typeface="Calibri"/>
                <a:ea typeface="Calibri"/>
                <a:cs typeface="Calibri"/>
              </a:rPr>
              <a:t>Freezing follow-up</a:t>
            </a:r>
          </a:p>
        </p:txBody>
      </p:sp>
      <p:sp>
        <p:nvSpPr>
          <p:cNvPr id="24" name="workflow-step-5">
            <a:extLst xmlns:a="http://schemas.openxmlformats.org/drawingml/2006/main">
              <a:ext uri="{FF2B5EF4-FFF2-40B4-BE49-F238E27FC236}">
                <a16:creationId xmlns:a16="http://schemas.microsoft.com/office/drawing/2014/main" id="{6D84A6D1-D9D7-45D3-AA7E-4CB05D7E7FC9}"/>
              </a:ext>
            </a:extLst>
          </p:cNvPr>
          <p:cNvSpPr>
            <a:spLocks xmlns:a="http://schemas.openxmlformats.org/drawingml/2006/main" noGrp="1"/>
          </p:cNvSpPr>
          <p:nvPr/>
        </p:nvSpPr>
        <p:spPr>
          <a:xfrm xmlns:a="http://schemas.openxmlformats.org/drawingml/2006/main">
            <a:off x="10191750" y="1457325"/>
            <a:ext cx="457200" cy="457200"/>
          </a:xfrm>
          <a:prstGeom xmlns:a="http://schemas.openxmlformats.org/drawingml/2006/main" prst="ellipse">
            <a:avLst/>
          </a:prstGeom>
          <a:solidFill xmlns:a="http://schemas.openxmlformats.org/drawingml/2006/main">
            <a:srgbClr val="1F497D"/>
          </a:solidFill>
          <a:ln xmlns:a="http://schemas.openxmlformats.org/drawingml/2006/main" w="19050">
            <a:solidFill>
              <a:srgbClr val="FFFF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650" b="1">
                <a:solidFill>
                  <a:srgbClr val="FFFFFF"/>
                </a:solidFill>
                <a:latin typeface="Calibri"/>
                <a:ea typeface="Calibri"/>
                <a:cs typeface="Calibri"/>
              </a:defRPr>
            </a:pPr>
            <a:r>
              <a:rPr sz="1650" b="1">
                <a:solidFill>
                  <a:srgbClr val="FFFFFF"/>
                </a:solidFill>
                <a:latin typeface="Calibri"/>
                <a:ea typeface="Calibri"/>
                <a:cs typeface="Calibri"/>
              </a:rPr>
              <a:t>5</a:t>
            </a:r>
          </a:p>
        </p:txBody>
      </p:sp>
      <p:sp>
        <p:nvSpPr>
          <p:cNvPr id="29" name="workflow-privacy-note">
            <a:extLst xmlns:a="http://schemas.openxmlformats.org/drawingml/2006/main">
              <a:ext uri="{FF2B5EF4-FFF2-40B4-BE49-F238E27FC236}">
                <a16:creationId xmlns:a16="http://schemas.microsoft.com/office/drawing/2014/main" id="{92EFDBDF-FB9D-45FB-8B95-63FC49997319}"/>
              </a:ext>
            </a:extLst>
          </p:cNvPr>
          <p:cNvSpPr>
            <a:spLocks xmlns:a="http://schemas.openxmlformats.org/drawingml/2006/main" noGrp="1"/>
          </p:cNvSpPr>
          <p:nvPr/>
        </p:nvSpPr>
        <p:spPr>
          <a:xfrm xmlns:a="http://schemas.openxmlformats.org/drawingml/2006/main">
            <a:off x="1143000" y="4762500"/>
            <a:ext cx="9906000" cy="685800"/>
          </a:xfrm>
          <a:prstGeom xmlns:a="http://schemas.openxmlformats.org/drawingml/2006/main" prst="roundRect">
            <a:avLst>
              <a:gd name="adj" fmla="val 19444"/>
            </a:avLst>
          </a:prstGeom>
          <a:solidFill xmlns:a="http://schemas.openxmlformats.org/drawingml/2006/main">
            <a:srgbClr val="EFF7EE"/>
          </a:solidFill>
          <a:ln xmlns:a="http://schemas.openxmlformats.org/drawingml/2006/main" w="14288">
            <a:solidFill>
              <a:srgbClr val="6F923E"/>
            </a:solidFill>
            <a:prstDash val="solid"/>
          </a:ln>
        </p:spPr>
        <p:txBody>
          <a:bodyPr xmlns:a="http://schemas.openxmlformats.org/drawingml/2006/main" wrap="square" lIns="171450" tIns="95250" rIns="171450" bIns="95250" anchor="ctr">
            <a:normAutofit fontScale="97766"/>
          </a:bodyPr>
          <a:lstStyle xmlns:a="http://schemas.openxmlformats.org/drawingml/2006/main"/>
          <a:p xmlns:a="http://schemas.openxmlformats.org/drawingml/2006/main">
            <a:pPr algn="ctr">
              <a:buNone/>
            </a:pPr>
            <a:r>
              <a:rPr sz="1400" b="1">
                <a:solidFill>
                  <a:srgbClr val="446126"/>
                </a:solidFill>
                <a:latin typeface="Calibri"/>
                <a:ea typeface="Calibri"/>
                <a:cs typeface="Calibri"/>
              </a:rPr>
              <a:t>EVIDENCE RULE: SafeByte records an attribution only when the available registry supports it. Otherwise the result remains inconclusive.</a:t>
            </a:r>
          </a:p>
        </p:txBody>
      </p:sp>
      <p:sp>
        <p:nvSpPr>
          <p:cNvPr id="30" name="workflow-caption">
            <a:extLst xmlns:a="http://schemas.openxmlformats.org/drawingml/2006/main">
              <a:ext uri="{FF2B5EF4-FFF2-40B4-BE49-F238E27FC236}">
                <a16:creationId xmlns:a16="http://schemas.microsoft.com/office/drawing/2014/main" id="{3D9B000C-9D9C-4ED5-A2D3-D7414BA891F2}"/>
              </a:ext>
            </a:extLst>
          </p:cNvPr>
          <p:cNvSpPr>
            <a:spLocks xmlns:a="http://schemas.openxmlformats.org/drawingml/2006/main" noGrp="1"/>
          </p:cNvSpPr>
          <p:nvPr/>
        </p:nvSpPr>
        <p:spPr>
          <a:xfrm xmlns:a="http://schemas.openxmlformats.org/drawingml/2006/main">
            <a:off x="2381250" y="5667375"/>
            <a:ext cx="742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ctr">
              <a:buNone/>
              <a:defRPr sz="975" i="1">
                <a:solidFill>
                  <a:srgbClr val="606A73"/>
                </a:solidFill>
                <a:latin typeface="Calibri"/>
                <a:ea typeface="Calibri"/>
                <a:cs typeface="Calibri"/>
              </a:defRPr>
            </a:pPr>
            <a:r>
              <a:rPr sz="975" i="1">
                <a:solidFill>
                  <a:srgbClr val="606A73"/>
                </a:solidFill>
                <a:latin typeface="Calibri"/>
                <a:ea typeface="Calibri"/>
                <a:cs typeface="Calibri"/>
              </a:rPr>
              <a:t>The workflow supports SIH26182 and the victim-reporting use case described in SIH26183.</a:t>
            </a:r>
          </a:p>
        </p:txBody>
      </p:sp>
      <p:cxnSp>
        <p:nvCxnSpPr>
          <p:cNvPr id="72" name=""/>
          <p:cNvCxnSpPr>
            <a:stCxn xmlns:a="http://schemas.openxmlformats.org/drawingml/2006/main" id="17" idx="1"/>
            <a:endCxn xmlns:a="http://schemas.openxmlformats.org/drawingml/2006/main" id="15" idx="3"/>
          </p:cNvCxnSpPr>
          <p:nvPr/>
        </p:nvCxnSpPr>
        <p:spPr>
          <a:xfrm xmlns:a="http://schemas.openxmlformats.org/drawingml/2006/main" flipH="1">
            <a:off x="2381250" y="2976563"/>
            <a:ext cx="342900" cy="0"/>
          </a:xfrm>
          <a:prstGeom xmlns:a="http://schemas.openxmlformats.org/drawingml/2006/main" prst="straightConnector1">
            <a:avLst/>
          </a:prstGeom>
          <a:ln xmlns:a="http://schemas.openxmlformats.org/drawingml/2006/main" w="23813">
            <a:solidFill>
              <a:srgbClr val="6F7F8F"/>
            </a:solidFill>
            <a:prstDash val="solid"/>
            <a:headEnd type="triangle" w="med" len="med"/>
          </a:ln>
        </p:spPr>
      </p:cxnSp>
      <p:cxnSp>
        <p:nvCxnSpPr>
          <p:cNvPr id="73" name=""/>
          <p:cNvCxnSpPr>
            <a:stCxn xmlns:a="http://schemas.openxmlformats.org/drawingml/2006/main" id="19" idx="1"/>
            <a:endCxn xmlns:a="http://schemas.openxmlformats.org/drawingml/2006/main" id="17" idx="3"/>
          </p:cNvCxnSpPr>
          <p:nvPr/>
        </p:nvCxnSpPr>
        <p:spPr>
          <a:xfrm xmlns:a="http://schemas.openxmlformats.org/drawingml/2006/main" flipH="1">
            <a:off x="4629150" y="2976563"/>
            <a:ext cx="342900" cy="0"/>
          </a:xfrm>
          <a:prstGeom xmlns:a="http://schemas.openxmlformats.org/drawingml/2006/main" prst="straightConnector1">
            <a:avLst/>
          </a:prstGeom>
          <a:ln xmlns:a="http://schemas.openxmlformats.org/drawingml/2006/main" w="23813">
            <a:solidFill>
              <a:srgbClr val="6F7F8F"/>
            </a:solidFill>
            <a:prstDash val="solid"/>
            <a:headEnd type="triangle" w="med" len="med"/>
          </a:ln>
        </p:spPr>
      </p:cxnSp>
      <p:cxnSp>
        <p:nvCxnSpPr>
          <p:cNvPr id="74" name=""/>
          <p:cNvCxnSpPr>
            <a:stCxn xmlns:a="http://schemas.openxmlformats.org/drawingml/2006/main" id="21" idx="1"/>
            <a:endCxn xmlns:a="http://schemas.openxmlformats.org/drawingml/2006/main" id="19" idx="3"/>
          </p:cNvCxnSpPr>
          <p:nvPr/>
        </p:nvCxnSpPr>
        <p:spPr>
          <a:xfrm xmlns:a="http://schemas.openxmlformats.org/drawingml/2006/main" flipH="1">
            <a:off x="6877050" y="2976563"/>
            <a:ext cx="342900" cy="0"/>
          </a:xfrm>
          <a:prstGeom xmlns:a="http://schemas.openxmlformats.org/drawingml/2006/main" prst="straightConnector1">
            <a:avLst/>
          </a:prstGeom>
          <a:ln xmlns:a="http://schemas.openxmlformats.org/drawingml/2006/main" w="23813">
            <a:solidFill>
              <a:srgbClr val="6F7F8F"/>
            </a:solidFill>
            <a:prstDash val="solid"/>
            <a:headEnd type="triangle" w="med" len="med"/>
          </a:ln>
        </p:spPr>
      </p:cxnSp>
      <p:cxnSp>
        <p:nvCxnSpPr>
          <p:cNvPr id="75" name=""/>
          <p:cNvCxnSpPr>
            <a:stCxn xmlns:a="http://schemas.openxmlformats.org/drawingml/2006/main" id="23" idx="1"/>
            <a:endCxn xmlns:a="http://schemas.openxmlformats.org/drawingml/2006/main" id="21" idx="3"/>
          </p:cNvCxnSpPr>
          <p:nvPr/>
        </p:nvCxnSpPr>
        <p:spPr>
          <a:xfrm xmlns:a="http://schemas.openxmlformats.org/drawingml/2006/main" flipH="1">
            <a:off x="9124950" y="2976563"/>
            <a:ext cx="342900" cy="0"/>
          </a:xfrm>
          <a:prstGeom xmlns:a="http://schemas.openxmlformats.org/drawingml/2006/main" prst="straightConnector1">
            <a:avLst/>
          </a:prstGeom>
          <a:ln xmlns:a="http://schemas.openxmlformats.org/drawingml/2006/main" w="23813">
            <a:solidFill>
              <a:srgbClr val="6F7F8F"/>
            </a:solidFill>
            <a:prstDash val="solid"/>
            <a:headEnd type="triangle" w="med" len="med"/>
          </a:ln>
        </p:spPr>
      </p:cxnSp>
    </p:spTree>
    <p:extLst>
      <p:ext uri="{BB962C8B-B14F-4D97-AF65-F5344CB8AC3E}">
        <p14:creationId xmlns:p14="http://schemas.microsoft.com/office/powerpoint/2010/main" val="373018380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2026-09-24T08:15:40.7700000Z</dcterms:created>
  <dcterms:modified xsi:type="dcterms:W3CDTF">2026-09-24T08:15:40.7700000Z</dcterms:modified>
</coreProperties>
</file>